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桂林银发旅游小程序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7DC99A"/>
                </a:solidFill>
              </a:rPr>
              <a:t>—— 银发族智慧旅游新体验 ——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00400"/>
            <a:ext cx="7619695" cy="45720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1241755" cy="457200"/>
          </a:xfrm>
          <a:prstGeom prst="rect">
            <a:avLst/>
          </a:prstGeom>
          <a:solidFill>
            <a:srgbClr val="1A4D33"/>
          </a:solidFill>
          <a:ln w="12700">
            <a:solidFill>
              <a:srgbClr val="4AA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2417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银发友好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9307" y="3429000"/>
            <a:ext cx="1472184" cy="457200"/>
          </a:xfrm>
          <a:prstGeom prst="rect">
            <a:avLst/>
          </a:prstGeom>
          <a:solidFill>
            <a:srgbClr val="1A4D33"/>
          </a:solidFill>
          <a:ln w="12700">
            <a:solidFill>
              <a:srgbClr val="4AA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9307" y="342900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微信小程序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6083" y="3429000"/>
            <a:ext cx="1241755" cy="457200"/>
          </a:xfrm>
          <a:prstGeom prst="rect">
            <a:avLst/>
          </a:prstGeom>
          <a:solidFill>
            <a:srgbClr val="1A4D33"/>
          </a:solidFill>
          <a:ln w="12700">
            <a:solidFill>
              <a:srgbClr val="4AA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6083" y="3429000"/>
            <a:ext cx="12417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AI智能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2430" y="3429000"/>
            <a:ext cx="1241755" cy="457200"/>
          </a:xfrm>
          <a:prstGeom prst="rect">
            <a:avLst/>
          </a:prstGeom>
          <a:solidFill>
            <a:srgbClr val="1A4D33"/>
          </a:solidFill>
          <a:ln w="12700">
            <a:solidFill>
              <a:srgbClr val="4AA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2430" y="3429000"/>
            <a:ext cx="12417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漓江旅游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8777" y="3429000"/>
            <a:ext cx="1241755" cy="457200"/>
          </a:xfrm>
          <a:prstGeom prst="rect">
            <a:avLst/>
          </a:prstGeom>
          <a:solidFill>
            <a:srgbClr val="1A4D33"/>
          </a:solidFill>
          <a:ln w="12700">
            <a:solidFill>
              <a:srgbClr val="4AA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777" y="3429000"/>
            <a:ext cx="12417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桂林导览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5DB"/>
                </a:solidFill>
              </a:rPr>
              <a:t>项目全景介绍 |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DC99A"/>
                </a:solidFill>
              </a:rPr>
              <a:t>银发友好 × AI赋能 × 漓江文旅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3E0CE"/>
                </a:solidFill>
              </a:rPr>
              <a:t>专为中老年游客设计 | 大字体·高对比度·简操作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80760"/>
            <a:ext cx="9448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</a:rPr>
              <a:t>基于桂林旅游市场调研 | 服务银发群体出行需求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项目全景一页速览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项目概述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背景·目标·价值定位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0699646200" y="118872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0699646200" y="118872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069973764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0700423440" y="128016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目标用户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0699783360" y="196596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银发群体画像与需求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0699646200" y="242316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81398972360" y="118872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81398972360" y="118872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139906380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1399749600" y="128016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核心功能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1399109520" y="196596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8大功能模块详解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81398972360" y="242316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2098298520" y="118872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2098298520" y="118872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209838996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099075760" y="128016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UI设计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2098435680" y="196596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银发友好交互设计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2098298520" y="242316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84048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技术架构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1772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前后端·AI·数据库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7492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40699646200" y="384048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40699646200" y="384048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4069973764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40700423440" y="393192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数据库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40699783360" y="461772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9张核心数据表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40699646200" y="507492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81398972360" y="384048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81398972360" y="384048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8139906380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1399749600" y="393192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API接口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1399109520" y="461772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20+接口·支付体系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398972360" y="507492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22098298520" y="3840480"/>
            <a:ext cx="2640699051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22098298520" y="3840480"/>
            <a:ext cx="2640699051840" cy="64008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209838996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22099075760" y="3931920"/>
            <a:ext cx="264069818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安全与辅助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22098435680" y="4617720"/>
            <a:ext cx="264069882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防护·SOS·运维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22098298520" y="5074920"/>
            <a:ext cx="2640699051840" cy="1188720"/>
          </a:xfrm>
          <a:prstGeom prst="rect">
            <a:avLst/>
          </a:prstGeom>
          <a:solidFill>
            <a:srgbClr val="D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项目概述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背景·目标·价值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9280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桂林是全球知名旅游城市，银发族（55岁以上）游客占比超过35%，但现有旅游应用对银发用户极不友好：字体小、操作复杂、路径深。本小程序专为银发群体打造，提供大字高对比度、极简交互的智慧旅游体验。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核心目标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✅ 解决银发族使用智能设备的困难，降低旅游门槛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6758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✅ 整合漓江/桂林优质旅游资源，提供一键导览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0599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✅ AI智能推荐路线+实时讲解，服务个性化出行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439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✅ 建立信任体系（实名认证+先行赔付），消除老年人消费顾虑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价值定位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25779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国内首个专注银发群体的一站式桂林旅游小程序，以漓江精华段（杨堤码头→兴坪）为核心场景，融合AI导览、社交分享、安全保障，构建银发旅游新生态。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数据与技术亮点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项目数据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65960"/>
            <a:ext cx="2468880" cy="77724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0208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048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API接口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965960"/>
            <a:ext cx="2468880" cy="77724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20208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4048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数据库表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880360"/>
            <a:ext cx="2468880" cy="77724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9352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3192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核心功能模块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880360"/>
            <a:ext cx="2468880" cy="77724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9408" y="29352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33192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用户角色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技术亮点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9103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🗺️  AI景点识别与智能路线规划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2760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🔊  语音导览+文字双轨讲解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6418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💬  AI对话式旅游咨询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6007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📍  GPS精准定位+电子围栏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63733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🛡️   SOS一键呼救+实时位置共享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目标用户 USER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银发群体需求与痛点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用户画像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银发用户画像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594360" cy="13716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94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3320"/>
                </a:solidFill>
              </a:rPr>
              <a:t>休闲观光型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漓江山水、古镇漫游为主，偏好摄影，慢节奏，需要语音讲解辅助理解文化内涵，不擅自行程规划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42900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429000"/>
            <a:ext cx="594360" cy="13716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429000"/>
            <a:ext cx="594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3320"/>
                </a:solidFill>
              </a:rPr>
              <a:t>文化体验型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对历史典故、民俗文化有浓厚兴趣，愿意参与沉浸式活动如渔翁撒网拍照，需深度讲解内容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89204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892040"/>
            <a:ext cx="594360" cy="13716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892040"/>
            <a:ext cx="594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3320"/>
                </a:solidFill>
              </a:rPr>
              <a:t>家庭出游型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与子女/孙辈同行，操作由子女代劳为主，关注安全性和便利性，适合亲子组合票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痛点与方案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痛点与需求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96596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❌ 字体太小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267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现有APP正文字体10-12pt，55岁以上阅读困难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79192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679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❌ 操作复杂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9809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注册登录超过3步即流失，页面层级超过2级即放弃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92424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392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❌ 信任缺失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694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对线上支付有顾虑，无实体保障，担心上当受骗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05656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105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❌ 信息过载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407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页面塞满功能入口，视觉混乱，不知道该点哪里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818888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❌ 视力问题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120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强光下屏幕看不清，低对比度色文字难以辨认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解决方案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989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✅ 正文字体≥16pt，大按钮，热区放大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6355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✅ 3步内完成核心操作，全流程≤3页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6720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✅ 实名认证+先行赔付，线下面对面核销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核心功能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8大模块构建完整银发旅游体验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智能路线规划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58568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AI分析偏好+实时天气+路况，生成最优游览方案，支持分段导航与预估时间展示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7671" y="1143000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7671" y="1143000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7671" y="1143000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9111" y="1856232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精准位置服务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9111" y="2258568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电子围栏自动记录游览轨迹，GPS+北斗双模定位，离线地图无网也能用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5303" y="1143000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5303" y="1143000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5303" y="1143000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1856232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AI语音讲解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2258568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景点识别自动触发讲解，提供普通话/方言切换，真人语音合成，音量自适应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12935" y="1143000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12935" y="1143000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2935" y="1143000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4375" y="1856232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辅助预约挂号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4375" y="2258568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桂林景区门票在线预约，对接景区系统实时库存，支持改签退，子女可代操作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22192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22192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822192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35424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智慧支付体系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937760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微信支付+亲属代付+先游后付，防欺诈实时预警，消费明细语音播报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7671" y="3822192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7671" y="3822192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7671" y="3822192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9111" y="4535424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安全管理中心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9111" y="4937760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SOS一键呼救，GPS+轨迹实时共享，亲情号码5秒触达，急救信息卡自动展示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5303" y="3822192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15303" y="3822192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5303" y="3822192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743" y="4535424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健康保障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6743" y="4937760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实时心率/血氧监测（手表数据），周边医院POI，周游高德120联动，自动位置上报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12935" y="3822192"/>
            <a:ext cx="277817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12935" y="3822192"/>
            <a:ext cx="2778175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2935" y="3822192"/>
            <a:ext cx="2778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4375" y="4535424"/>
            <a:ext cx="26410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家庭社交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4375" y="4937760"/>
            <a:ext cx="2641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家庭组队共享位置，子女辅助操作，亲友圈分享游览照片，打卡排行榜激励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UI设计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银发友好交互规范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设计原则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设计原则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极简交互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核心操作不超过3步，全流程扁平化，重要操作固定在首页底部Tab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8803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大字体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2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正文字体≥16pt，标题≥22pt，重要信息加粗+高对比色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9476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7947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04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高对比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87952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文字与背景对比度≥4.5:1，关键按钮使用主色+白字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916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70916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7091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大热区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02352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点击区域≥44×44pt，重要按钮宽度≥屏幕宽60%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2356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62356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6235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6692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双重反馈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16752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重要操作同时提供视觉+语音/震动反馈，确认提示清晰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色彩与字号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色彩规范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011680"/>
            <a:ext cx="457200" cy="384048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965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GREEN_900  0x0D3320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1965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标题/重点背景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560320"/>
            <a:ext cx="457200" cy="384048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GREEN_700  0x2E6B47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主要按钮/标签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108960"/>
            <a:ext cx="457200" cy="384048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3063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GREEN_500  0x4AAD75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063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成功/确认状态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657600"/>
            <a:ext cx="457200" cy="384048"/>
          </a:xfrm>
          <a:prstGeom prst="rect">
            <a:avLst/>
          </a:prstGeom>
          <a:solidFill>
            <a:srgbClr val="F59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611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GOLD  0xF5960B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警示/重要提示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206240"/>
            <a:ext cx="457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RED  0xDC2626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160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SOS/危险/错误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754880"/>
            <a:ext cx="457200" cy="38404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4709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GRAY_700  0x3A3A3A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709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正文文字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字号规范（银发友好）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733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页面大标题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733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28pt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6099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卡片标题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60990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20pt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6464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正文内容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6464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16pt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6830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辅助说明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68305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14pt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7196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3A3A"/>
                </a:solidFill>
              </a:rPr>
              <a:t>按钮文字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71963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B47"/>
                </a:solidFill>
              </a:rPr>
              <a:t>18pt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技术架构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前后端分离 + AI智能 + 云原生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前端与后端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前端架构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📱 微信小程序（主）+ H5（社交传播）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50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🗼 TDesign 组件库，统一设计语言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340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🧩 Vant Weapp 轻量化组件（按需加载）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181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📡 WebSocket 即时通讯（导游直播/组队消息）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02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🗺️ 腾讯地图SDK，室内外一体化定位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🔊 微信同声传译，实时语音转文字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270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📳 微信原生振动反馈（haptic）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后端架构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⚙️  Node.js/Express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413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🐘 PostgreSQL 主数据库（用户/订单/内容）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797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📊 Redis 缓存（会话/令牌/热点数据）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1813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🔐 JWT 认证 + 微信授权登录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65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📨 消息队列（订单通知/行程变更）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949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☁️  阿里云OSS 文件存储（图片/证照）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AI服务与运维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AI 服务层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🤖 景点识别（图像AI+知识图谱）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50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🗺️  智能路线规划（强化学习+实时数据）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💬  AI对话咨询（意图识别+知识库检索）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118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🔊  语音合成（TTS，多方言支持）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02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📝  OCR证照识别（老人手机操作辅助）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运维与部署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🐳 Docker 容器化，K8s 编排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27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🔄 CI/CD 流水线（GitHub Actions）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1114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📈 Prometheus + Grafana 监控告警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4955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🌐 CDN 加速（静态资源+图片）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879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🔒 HTTPS + TLS1.3 传输加密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数据库设计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9张核心数据表 ·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43584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用户表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64208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938528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id/name/phone/age/emergency_contact/emergency_phone/medical_info/id_card_enc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0306" y="1188720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0306" y="1188720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3458" y="1243584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景点表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1664208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attractions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1938528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id/name/intro/audio_url/gps_x/gps_y/level/tags/open_hours/accessible设施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0572" y="1188720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0572" y="1188720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243584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游览路线表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1664208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3724" y="1938528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id/name/attraction_ids/duration/price/suitable_for/max_people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41448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41448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496312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订单表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2916936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bookings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3191256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id/user_id/route_id/status/payment_method/pay_time/refund_time/refund_reason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0306" y="2441448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0306" y="2441448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3458" y="2496312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评价表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3458" y="2916936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3458" y="3191256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id/user_id/booking_id/rating/comment/audio_url/photo_urls/created_at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0572" y="2441448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0572" y="2441448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3724" y="2496312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安全记录表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724" y="2916936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safety_records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724" y="3191256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id/user_id/type/description/gps_x/gps_y/trigger_time/handled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94176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694176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749040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家庭组队表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4169664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family_groups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4443984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id/name/owner_id/invite_code/members/share_location/share_trail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80306" y="3694176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80306" y="3694176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3458" y="3749040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AI对话记录表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3458" y="4169664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ai_conversations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3458" y="4443984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id/session_id/user_id/query/response/intent/context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40572" y="3694176"/>
            <a:ext cx="374081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0572" y="3694176"/>
            <a:ext cx="3740810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3724" y="3749040"/>
            <a:ext cx="36493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SOS告警表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3724" y="4169664"/>
            <a:ext cx="36493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sos_alerts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3724" y="4443984"/>
            <a:ext cx="36493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id/user_id/location_x/location_y/heartbeat/triggered_at/resolved_at/rescuer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API接口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20+ RESTful API · JSON · HTTPS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96463" cy="4572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07008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认证模块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91640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82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659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/api/auth/login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128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微信授权登录，获取JWT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377440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23682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6517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/api/auth/refresh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8986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刷新Access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3063240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30540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33375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/api/auth/logout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35844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注销会话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9383" y="1143000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9383" y="1143000"/>
            <a:ext cx="2796463" cy="4572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2535" y="1207008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景点模块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2535" y="16916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2535" y="1682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2535" y="19659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/api/attractions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2535" y="22128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景点列表（分页+筛选）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2535" y="23774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2535" y="23682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2535" y="26517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/api/attractions/:id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2535" y="28986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景点详情+语音讲解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72535" y="30632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2535" y="30540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2535" y="33375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/api/attractions/:id/comments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2535" y="35844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景点评论列表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8727" y="1143000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8727" y="1143000"/>
            <a:ext cx="2796463" cy="45720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1879" y="1207008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路线模块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1879" y="16916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1879" y="1682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1879" y="19659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1879" y="22128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路线列表（时间/价格筛选）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1879" y="23774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1879" y="23682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1879" y="26517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/api/routes/:id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1879" y="28986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路线详情含行程节点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1879" y="30632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1879" y="30540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1879" y="33375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/api/routes/ai-plan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1879" y="35844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AI智能路线规划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58071" y="1143000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58071" y="1143000"/>
            <a:ext cx="2796463" cy="45720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31223" y="1207008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订单模块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31223" y="1691640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31223" y="1682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31223" y="19659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/api/bookings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31223" y="22128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创建订单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31223" y="2377440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1223" y="23682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31223" y="26517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/api/bookings/:id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1223" y="28986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订单详情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31223" y="3063240"/>
            <a:ext cx="50292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31223" y="30540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31223" y="3337560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/api/bookings/:id/cancel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31223" y="358444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取消订单（退款规则）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858768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3858768"/>
            <a:ext cx="2796463" cy="457200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" y="3922776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支付模块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3192" y="4407408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" y="43982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" y="46817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/api/pay/create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3192" y="49286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创建支付（微信JSAPI）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3192" y="5093208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" y="50840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" y="53675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/api/pay/callback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3192" y="56144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支付回调通知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" y="5779008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3192" y="57698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3192" y="60533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/api/pay/refund-calc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3192" y="63002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退款金额计算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9383" y="3858768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99383" y="3858768"/>
            <a:ext cx="2796463" cy="457200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72535" y="3922776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地图模块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72535" y="4407408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72535" y="43982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72535" y="46817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/api/map/nearby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72535" y="49286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周边设施查询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72535" y="5093208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372535" y="50840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72535" y="53675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/api/map/trail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72535" y="56144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游览轨迹查询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72535" y="5779008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72535" y="57698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72535" y="60533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/api/map/checkin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72535" y="63002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打卡签到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78727" y="3858768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78727" y="3858768"/>
            <a:ext cx="2796463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1879" y="3922776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安全模块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51879" y="4407408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1879" y="43982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51879" y="46817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/api/sos/alert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51879" y="49286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触发SOS告警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51879" y="5093208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51879" y="50840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51879" y="53675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/api/sos/status/:id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51879" y="56144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告警状态查询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351879" y="5779008"/>
            <a:ext cx="50292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351879" y="57698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51879" y="60533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/api/sos/resolve/:id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51879" y="63002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解除告警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58071" y="3858768"/>
            <a:ext cx="2796463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258071" y="3858768"/>
            <a:ext cx="2796463" cy="45720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31223" y="3922776"/>
            <a:ext cx="270502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AI模块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331223" y="4407408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31223" y="43982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31223" y="46817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/api/ai/chat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31223" y="49286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AI对话咨询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331223" y="5093208"/>
            <a:ext cx="502920" cy="274320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31223" y="50840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31223" y="53675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/api/ai/voice-tts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31223" y="56144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语音合成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331223" y="5779008"/>
            <a:ext cx="502920" cy="2743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31223" y="57698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331223" y="6053328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6B47"/>
                </a:solidFill>
              </a:rPr>
              <a:t>/api/ai/intent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31223" y="6300216"/>
            <a:ext cx="2686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意图识别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支付体系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微信支付·亲属代付·先游后付·资金保障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支付方式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支付方式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303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594360" cy="89611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943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微信支付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86584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主推，契合银发习惯，免密支付（单笔限额500元）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26080"/>
            <a:ext cx="5303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594360" cy="89611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926080"/>
            <a:ext cx="5943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亲属代付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46704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子女远程支付，父母收到通知确认，避免误操作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303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594360" cy="89611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886200"/>
            <a:ext cx="5943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先游后付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06824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信用分≥650可申请，游玩后24h内结算，消除顾虑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46320"/>
            <a:ext cx="5303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846320"/>
            <a:ext cx="594360" cy="89611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846320"/>
            <a:ext cx="5943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🎟️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194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一码通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66944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景区联票+竹筏票合一，自动核销，无需重复取票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安全与退款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反欺诈机制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965960"/>
            <a:ext cx="502920" cy="640080"/>
          </a:xfrm>
          <a:prstGeom prst="rect">
            <a:avLst/>
          </a:prstGeom>
          <a:solidFill>
            <a:srgbClr val="D4EDE4"/>
          </a:solidFill>
          <a:ln w="1270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9659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B47"/>
                </a:solidFill>
              </a:rPr>
              <a:t>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00253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实时风控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30428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大额支付（&gt;500）弹窗确认+短信验证码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679192"/>
            <a:ext cx="502920" cy="640080"/>
          </a:xfrm>
          <a:prstGeom prst="rect">
            <a:avLst/>
          </a:prstGeom>
          <a:solidFill>
            <a:srgbClr val="D4EDE4"/>
          </a:solidFill>
          <a:ln w="1270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67919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B47"/>
                </a:solidFill>
              </a:rPr>
              <a:t>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71576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位置核验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0175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异常IP+地理位置突变触发人工审核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392424"/>
            <a:ext cx="502920" cy="640080"/>
          </a:xfrm>
          <a:prstGeom prst="rect">
            <a:avLst/>
          </a:prstGeom>
          <a:solidFill>
            <a:srgbClr val="D4EDE4"/>
          </a:solidFill>
          <a:ln w="1270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39242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B47"/>
                </a:solidFill>
              </a:rPr>
              <a:t>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429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实名认证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7307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≥60岁用户强制绑定紧急联系人+身份证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105656"/>
            <a:ext cx="502920" cy="640080"/>
          </a:xfrm>
          <a:prstGeom prst="rect">
            <a:avLst/>
          </a:prstGeom>
          <a:solidFill>
            <a:srgbClr val="D4EDE4"/>
          </a:solidFill>
          <a:ln w="1270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105656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B47"/>
                </a:solidFill>
              </a:rPr>
              <a:t>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142232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资金保障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44398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平台设立银发旅游保障基金，先行赔付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818888"/>
            <a:ext cx="502920" cy="640080"/>
          </a:xfrm>
          <a:prstGeom prst="rect">
            <a:avLst/>
          </a:prstGeom>
          <a:solidFill>
            <a:srgbClr val="D4EDE4"/>
          </a:solidFill>
          <a:ln w="1270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818888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B47"/>
                </a:solidFill>
              </a:rPr>
              <a:t>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85546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行为分析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15721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异常购买模式（深夜+短时+高价）预警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退款规则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961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• 出发前24h：全额退款（0手续费）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63093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• 出发前4-24h：退还80%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66568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• 出发前1-4h：退还50%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70043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• 出发前1h内/已出发：不予退款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安全体系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SOS紧急救援·数据安全·容灾备份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SOS紧急救援流程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SOS紧急救援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30352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391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🆘  首页固定SOS大按钮（直径80mm热区）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4320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548640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74320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980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触发方式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长按3秒SOS按钮或语音"救命"，防止误触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93008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493008"/>
            <a:ext cx="548640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93008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478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通知链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用户→亲属+平台客服+景区管理处，并发通知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42816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242816"/>
            <a:ext cx="548640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242816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位置共享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90288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自动上传GPS坐标，每30秒更新，持续10分钟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992624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92624"/>
            <a:ext cx="548640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992624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474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医疗信息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40096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血型/过敏史/用药史自动展示给急救人员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742432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742432"/>
            <a:ext cx="548640" cy="68580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742432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7972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客服介入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6089904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5秒内人工客服接入，全程录音记录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数据安全与备份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数据安全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96596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B47"/>
                </a:solidFill>
              </a:rPr>
              <a:t>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03911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传输加密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31343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全程HTTPS+TLS1.3，API参数签名防篡改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679192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770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B47"/>
                </a:solidFill>
              </a:rPr>
              <a:t>🗄️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275234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存储加密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26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身份证等敏感信息AES-256加密存储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392424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483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B47"/>
                </a:solidFill>
              </a:rPr>
              <a:t>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4655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隐私保护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7398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位置数据脱敏，行程轨迹72h后模糊化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105656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197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B47"/>
                </a:solidFill>
              </a:rPr>
              <a:t>⚙️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17880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权限管控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45312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RBAC角色权限，最小权限原则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818888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910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B47"/>
                </a:solidFill>
              </a:rPr>
              <a:t>🗑️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489204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数据销毁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1663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账户注销后30天自动清除（法律法规要求）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容灾备份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961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📍 主备双活数据中心（Nanjing + Hongkong）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63276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🔄 数据库每日全量+每小时增量备份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66934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⚡ 故障自动切换，业务中断&lt;30秒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家庭社交 FAMILY &amp;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子女辅助·亲情关怀·游友互动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家庭组队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家庭组队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928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子女帮助父母规划行程、预约门票、代付费用，让不善操作智能设备的银发用户也能享受数字化旅游的便利。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9748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69748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70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行程代规划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99816"/>
            <a:ext cx="4480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子女可在"家庭管理"中帮父母选择路线、一键预约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1188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61188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61188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850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费用代支付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14216"/>
            <a:ext cx="4480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父母下单→子女收到通知→一键代付，父母无需绑定银行卡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2628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52628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52628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994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位置实时看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28616"/>
            <a:ext cx="4480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父母游览时，子女可查看实时位置+轨迹，安心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440680"/>
            <a:ext cx="5303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440680"/>
            <a:ext cx="594360" cy="841248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44068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138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游览动态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843016"/>
            <a:ext cx="4480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父母打卡/拍照后自动同步家庭群，子女点赞互动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社交与激励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社交分享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965960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965960"/>
            <a:ext cx="594360" cy="841248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9659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039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打卡排行榜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368296"/>
            <a:ext cx="4663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游览漓江重要景点打卡，解锁成就徽章，分享朋友圈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880360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880360"/>
            <a:ext cx="594360" cy="841248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8803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953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照片故事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282696"/>
            <a:ext cx="4663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AI自动剪辑游览精彩瞬间，生成配图文案，一键分享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794760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794760"/>
            <a:ext cx="594360" cy="841248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7947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8679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足迹地图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197096"/>
            <a:ext cx="4663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记录每次旅游足迹，生成个人旅行地图，永久保存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709160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709160"/>
            <a:ext cx="594360" cy="841248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4709160"/>
            <a:ext cx="594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782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游友圈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111496"/>
            <a:ext cx="4663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同龄银发游客社区，分享游记，结伴同游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激励体系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6126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🎫 游览满3次景点获折扣券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📊 家庭组队额外积分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6858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🏅 年度银发旅游达人评选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运营推广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3E0CE"/>
                </a:solidFill>
              </a:rPr>
              <a:t>线上线下联动·医疗机构+社区地推·口碑裂变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推广策略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推广策略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594360" cy="7315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20824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医疗机构合作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桂林各大医院体检中心、老年病门诊放置宣传物料，精准触达目标用户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70632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770632"/>
            <a:ext cx="594360" cy="7315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70632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2549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社区地推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363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桂林/阳朔各大社区、老年活动中心、公园广场，定点协助注册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75304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75304"/>
            <a:ext cx="594360" cy="7315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575304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3016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本地媒体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410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桂林电视台《桂林日报》老年人专版，专题报道+软性植入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79976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379976"/>
            <a:ext cx="594360" cy="7315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379976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34840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首次体验补贴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457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新用户首单立减30元+专业导览服务体验，消除首次使用顾虑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84648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84648"/>
            <a:ext cx="594360" cy="731520"/>
          </a:xfrm>
          <a:prstGeom prst="rect">
            <a:avLst/>
          </a:prstGeom>
          <a:solidFill>
            <a:srgbClr val="2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184648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3951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320"/>
                </a:solidFill>
              </a:rPr>
              <a:t>口碑传播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5504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设置"银发推荐官"勋章，被推荐人下单奖励推荐人积分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D33"/>
                </a:solidFill>
              </a:rPr>
              <a:t>运营指标与合作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运营指标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965960"/>
            <a:ext cx="2606040" cy="91440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020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DAU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4048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日活跃用户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98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目标上线6个月达5000+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1965960"/>
            <a:ext cx="2606040" cy="91440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2020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付费率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24048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转化率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898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目标15%（银发用户保守）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71800"/>
            <a:ext cx="2606040" cy="91440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302666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NPS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3410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净推荐值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90448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目标≥50（口碑驱动）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2971800"/>
            <a:ext cx="2606040" cy="914400"/>
          </a:xfrm>
          <a:prstGeom prst="rect">
            <a:avLst/>
          </a:prstGeom>
          <a:solidFill>
            <a:srgbClr val="D4EDE4"/>
          </a:solidFill>
          <a:ln w="19050">
            <a:solidFill>
              <a:srgbClr val="7DC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302666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3320"/>
                </a:solidFill>
              </a:rPr>
              <a:t>客单价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3410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平均订单金额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90448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目标≥280元/人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4D33"/>
                </a:solidFill>
              </a:rPr>
              <a:t>合作资源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498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🤝 桂林文化广电旅游局（官方背书）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8828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🤝 漓江风景名胜区管理局（票务合作）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2669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🤝 阳朔县旅游总公司（线下接待）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650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🤝 桂林市民政局（老年服务渠道）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601968"/>
            <a:ext cx="11551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E0CE"/>
                </a:solidFill>
              </a:rPr>
              <a:t>桂林银发旅游小程序 · 项目全景介绍 ·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桂林银发旅游小程序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3E0CE"/>
                </a:solidFill>
              </a:rPr>
              <a:t>让每一位银发游客都能享受智慧旅游的便利与乐趣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9448495" cy="36576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4" y="2103120"/>
            <a:ext cx="2200595" cy="2377440"/>
          </a:xfrm>
          <a:prstGeom prst="rect">
            <a:avLst/>
          </a:prstGeom>
          <a:solidFill>
            <a:srgbClr val="1A4D33"/>
          </a:solidFill>
          <a:ln w="1905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2286000"/>
            <a:ext cx="22005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21731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AI智能导览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20440"/>
            <a:ext cx="21731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</a:rPr>
              <a:t>漓江全景智能路线规划，语音讲解自动触发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5227" y="2103120"/>
            <a:ext cx="2200595" cy="2377440"/>
          </a:xfrm>
          <a:prstGeom prst="rect">
            <a:avLst/>
          </a:prstGeom>
          <a:solidFill>
            <a:srgbClr val="1A4D33"/>
          </a:solidFill>
          <a:ln w="1905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5227" y="2286000"/>
            <a:ext cx="22005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1803" y="3017520"/>
            <a:ext cx="21731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银发友好设计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1803" y="3520440"/>
            <a:ext cx="21731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</a:rPr>
              <a:t>大字高对比度，3步内完成核心操作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5550" y="2103120"/>
            <a:ext cx="2200595" cy="2377440"/>
          </a:xfrm>
          <a:prstGeom prst="rect">
            <a:avLst/>
          </a:prstGeom>
          <a:solidFill>
            <a:srgbClr val="1A4D33"/>
          </a:solidFill>
          <a:ln w="1905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5550" y="2286000"/>
            <a:ext cx="22005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2126" y="3017520"/>
            <a:ext cx="21731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安全保障体系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2126" y="3520440"/>
            <a:ext cx="21731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</a:rPr>
              <a:t>SOS一键呼救，亲属实时位置共享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5873" y="2103120"/>
            <a:ext cx="2200595" cy="2377440"/>
          </a:xfrm>
          <a:prstGeom prst="rect">
            <a:avLst/>
          </a:prstGeom>
          <a:solidFill>
            <a:srgbClr val="1A4D33"/>
          </a:solidFill>
          <a:ln w="1905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5873" y="2286000"/>
            <a:ext cx="22005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449" y="3017520"/>
            <a:ext cx="21731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智慧支付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449" y="3520440"/>
            <a:ext cx="21731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</a:rPr>
              <a:t>微信支付+亲属代付+先游后付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6196" y="2103120"/>
            <a:ext cx="2200595" cy="2377440"/>
          </a:xfrm>
          <a:prstGeom prst="rect">
            <a:avLst/>
          </a:prstGeom>
          <a:solidFill>
            <a:srgbClr val="1A4D33"/>
          </a:solidFill>
          <a:ln w="19050">
            <a:solidFill>
              <a:srgbClr val="3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6196" y="2286000"/>
            <a:ext cx="22005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2772" y="3017520"/>
            <a:ext cx="21731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3E0CE"/>
                </a:solidFill>
              </a:rPr>
              <a:t>家庭社交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772" y="3520440"/>
            <a:ext cx="21731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</a:rPr>
              <a:t>子女辅助操作，家庭共享游览精彩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663440"/>
            <a:ext cx="9448495" cy="36576"/>
          </a:xfrm>
          <a:prstGeom prst="rect">
            <a:avLst/>
          </a:prstGeom>
          <a:solidFill>
            <a:srgbClr val="4AA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920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DC99A"/>
                </a:solidFill>
              </a:rPr>
              <a:t>联系我们 | 合作洽谈 | 媒体采访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</a:rPr>
              <a:t>© 2024 桂林银发旅游小程序 · All Rights Reserved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A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3E0CE"/>
                </a:solidFill>
              </a:rPr>
              <a:t>大字体 · 高对比度 · 简操作 · 零障碍 · 真关怀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