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B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145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0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P R O J E C T   P A N O R A M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5200"/>
              </a:lnSpc>
              <a:spcAft>
                <a:spcPts val="200"/>
              </a:spcAft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桂林银发旅游小程序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9184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专为银发群体打造的桂林智慧导览与文旅电商平台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4206240"/>
            <a:ext cx="1554480" cy="411480"/>
          </a:xfrm>
          <a:prstGeom prst="roundRect">
            <a:avLst/>
          </a:prstGeom>
          <a:noFill/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4206240"/>
            <a:ext cx="1554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微信小程序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4206240"/>
            <a:ext cx="1554480" cy="411480"/>
          </a:xfrm>
          <a:prstGeom prst="roundRect">
            <a:avLst/>
          </a:prstGeom>
          <a:noFill/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4206240"/>
            <a:ext cx="1554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Vue 3 管理后台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4206240"/>
            <a:ext cx="1554480" cy="411480"/>
          </a:xfrm>
          <a:prstGeom prst="roundRect">
            <a:avLst/>
          </a:prstGeom>
          <a:noFill/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206240"/>
            <a:ext cx="1554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Express + TypeScript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4206240"/>
            <a:ext cx="1554480" cy="411480"/>
          </a:xfrm>
          <a:prstGeom prst="roundRect">
            <a:avLst/>
          </a:prstGeom>
          <a:noFill/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4206240"/>
            <a:ext cx="1554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SQL.js 数据库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4206240"/>
            <a:ext cx="1554480" cy="411480"/>
          </a:xfrm>
          <a:prstGeom prst="roundRect">
            <a:avLst/>
          </a:prstGeom>
          <a:noFill/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0" y="4206240"/>
            <a:ext cx="1554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Railway 部署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00"/>
              </a:lnSpc>
              <a:spcAft>
                <a:spcPts val="200"/>
              </a:spcAft>
              <a:defRPr sz="2600" b="1">
                <a:solidFill>
                  <a:srgbClr val="14522F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270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1  项目概述与定位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2  系统架构全景图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3  技术栈详解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64208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4  页面路由与导航体系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48256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5  首页设计与功能模块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048256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6  景点导览模块详解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32304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7  安全防护模块详解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32304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8  个人中心模块详解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16352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9  辅助功能页面全景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816352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10 电商功能模块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11 银发友好设计体系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200400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12 安全防护体系架构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584448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13 紧急求助SOS流程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584448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14 后端架构与安全措施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68496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15 数据库设计（9张表）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968496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16 API接口全景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52544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17 天气API多级Fallback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352544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18 组件化与工具模块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36592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19 Web管理后台（Vue 3）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736592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20 部署架构与运维策略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120640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21 全局状态与CSS变量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120640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22 技术亮点与创新总结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504688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23 项目文件结构总览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504688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24 致谢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00"/>
              </a:lnSpc>
              <a:spcAft>
                <a:spcPts val="200"/>
              </a:spcAft>
              <a:defRPr sz="2600" b="1">
                <a:solidFill>
                  <a:srgbClr val="14522F"/>
                </a:solidFill>
                <a:latin typeface="Microsoft YaHei"/>
              </a:defRPr>
            </a:pPr>
            <a:r>
              <a:t>项目概述与定位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270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303520" cy="82296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项目名称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桂林银发旅游小程序（Guilin Silver Hair Tourism）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48840"/>
            <a:ext cx="5303520" cy="82296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目标用户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32888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银发群体（老年人）—— 到桂林旅游的长者及其家属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08960"/>
            <a:ext cx="5303520" cy="82296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004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核心定位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93008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智慧导览 + 文旅电商 + 安全防护 + 健康关怀 四位一体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69080"/>
            <a:ext cx="5303520" cy="64008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16052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版本信息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53128"/>
            <a:ext cx="5029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v1.0.0 | 开发完成 | 2026年5月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188720"/>
            <a:ext cx="1280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100"/>
              </a:lnSpc>
              <a:spcAft>
                <a:spcPts val="200"/>
              </a:spcAft>
              <a:defRPr sz="2600" b="1">
                <a:solidFill>
                  <a:srgbClr val="1A6B3C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69164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小程序页面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1188720"/>
            <a:ext cx="1280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100"/>
              </a:lnSpc>
              <a:spcAft>
                <a:spcPts val="200"/>
              </a:spcAft>
              <a:defRPr sz="2600" b="1">
                <a:solidFill>
                  <a:srgbClr val="1A6B3C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169164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数据库表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920240"/>
            <a:ext cx="1280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100"/>
              </a:lnSpc>
              <a:spcAft>
                <a:spcPts val="200"/>
              </a:spcAft>
              <a:defRPr sz="2600" b="1">
                <a:solidFill>
                  <a:srgbClr val="1A6B3C"/>
                </a:solidFill>
                <a:latin typeface="Microsoft YaHei"/>
              </a:defRPr>
            </a:pPr>
            <a:r>
              <a:t>20+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2316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API接口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1920240"/>
            <a:ext cx="1280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100"/>
              </a:lnSpc>
              <a:spcAft>
                <a:spcPts val="200"/>
              </a:spcAft>
              <a:defRPr sz="2600" b="1">
                <a:solidFill>
                  <a:srgbClr val="1A6B3C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42316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TabBar入口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651760"/>
            <a:ext cx="1280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100"/>
              </a:lnSpc>
              <a:spcAft>
                <a:spcPts val="200"/>
              </a:spcAft>
              <a:defRPr sz="2600" b="1">
                <a:solidFill>
                  <a:srgbClr val="1A6B3C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15468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大景点详情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651760"/>
            <a:ext cx="1280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100"/>
              </a:lnSpc>
              <a:spcAft>
                <a:spcPts val="200"/>
              </a:spcAft>
              <a:defRPr sz="2600" b="1">
                <a:solidFill>
                  <a:srgbClr val="1A6B3C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15468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服务端技术栈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5661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1A6B3C"/>
                </a:solidFill>
                <a:latin typeface="Microsoft YaHei"/>
              </a:defRPr>
            </a:pPr>
            <a:r>
              <a:t>解决的痛点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977639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🎯 老人看手机字太小 → 三档字体缩放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297679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🎯 老人不熟悉智能操作 → 全程语音播报导航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617719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🎯 出游安全隐患多 → 天气预警 + 路滑评估 + SOS求助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937759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🎯 景区信息不透明 → 老人友好评分 + 适老化提示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00"/>
              </a:lnSpc>
              <a:spcAft>
                <a:spcPts val="200"/>
              </a:spcAft>
              <a:defRPr sz="2600" b="1">
                <a:solidFill>
                  <a:srgbClr val="14522F"/>
                </a:solidFill>
                <a:latin typeface="Microsoft YaHei"/>
              </a:defRPr>
            </a:pPr>
            <a:r>
              <a:t>系统架构全景图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270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33832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383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600"/>
              </a:lnSpc>
              <a:spcAft>
                <a:spcPts val="200"/>
              </a:spcAft>
              <a:defRPr sz="3000" b="0">
                <a:solidFill>
                  <a:srgbClr val="2D2D2D"/>
                </a:solidFill>
                <a:latin typeface="Microsoft YaHei"/>
              </a:defRPr>
            </a:pPr>
            <a: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00"/>
              </a:lnSpc>
              <a:spcAft>
                <a:spcPts val="200"/>
              </a:spcAft>
              <a:defRPr sz="1500" b="1">
                <a:solidFill>
                  <a:srgbClr val="1A6B3C"/>
                </a:solidFill>
                <a:latin typeface="Microsoft YaHei"/>
              </a:defRPr>
            </a:pPr>
            <a:r>
              <a:t>微信小程序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283464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00"/>
              </a:lnSpc>
              <a:spcAft>
                <a:spcPts val="200"/>
              </a:spcAft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原生框架 + 自定义TabBar</a:t>
            </a:r>
            <a:br/>
            <a:r>
              <a:t>18个页面 + 4个组件</a:t>
            </a:r>
            <a:br/>
            <a:r>
              <a:t>WechatSI语音插件</a:t>
            </a:r>
            <a:br/>
            <a:r>
              <a:t>高德地图SDK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4023360"/>
            <a:ext cx="1554480" cy="320040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402336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1">
                <a:solidFill>
                  <a:srgbClr val="2E8B57"/>
                </a:solidFill>
                <a:latin typeface="Microsoft YaHei"/>
              </a:defRPr>
            </a:pPr>
            <a:r>
              <a:t>表现层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7432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600"/>
              </a:lnSpc>
              <a:spcAft>
                <a:spcPts val="200"/>
              </a:spcAft>
              <a:defRPr sz="2200" b="0">
                <a:solidFill>
                  <a:srgbClr val="66CDA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19" y="1280160"/>
            <a:ext cx="33832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19" y="1417320"/>
            <a:ext cx="3383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600"/>
              </a:lnSpc>
              <a:spcAft>
                <a:spcPts val="200"/>
              </a:spcAft>
              <a:defRPr sz="3000" b="0">
                <a:solidFill>
                  <a:srgbClr val="2D2D2D"/>
                </a:solidFill>
                <a:latin typeface="Microsoft YaHei"/>
              </a:defRPr>
            </a:pPr>
            <a:r>
              <a:t>⚙️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19" y="210312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00"/>
              </a:lnSpc>
              <a:spcAft>
                <a:spcPts val="200"/>
              </a:spcAft>
              <a:defRPr sz="1500" b="1">
                <a:solidFill>
                  <a:srgbClr val="1A6B3C"/>
                </a:solidFill>
                <a:latin typeface="Microsoft YaHei"/>
              </a:defRPr>
            </a:pPr>
            <a:r>
              <a:t>Express 后端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2514600"/>
            <a:ext cx="283464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00"/>
              </a:lnSpc>
              <a:spcAft>
                <a:spcPts val="200"/>
              </a:spcAft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TypeScript + Node.js</a:t>
            </a:r>
            <a:br/>
            <a:r>
              <a:t>SQL.js 嵌入式数据库</a:t>
            </a:r>
            <a:br/>
            <a:r>
              <a:t>Helmet + Rate Limit</a:t>
            </a:r>
            <a:br/>
            <a:r>
              <a:t>Zod 参数验证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19" y="4023360"/>
            <a:ext cx="1554480" cy="3200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19" y="402336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1">
                <a:solidFill>
                  <a:srgbClr val="C8953A"/>
                </a:solidFill>
                <a:latin typeface="Microsoft YaHei"/>
              </a:defRPr>
            </a:pPr>
            <a:r>
              <a:t>服务层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399" y="27432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600"/>
              </a:lnSpc>
              <a:spcAft>
                <a:spcPts val="200"/>
              </a:spcAft>
              <a:defRPr sz="2200" b="0">
                <a:solidFill>
                  <a:srgbClr val="66CDA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58" y="1280160"/>
            <a:ext cx="33832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58" y="1417320"/>
            <a:ext cx="3383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600"/>
              </a:lnSpc>
              <a:spcAft>
                <a:spcPts val="200"/>
              </a:spcAft>
              <a:defRPr sz="3000" b="0">
                <a:solidFill>
                  <a:srgbClr val="2D2D2D"/>
                </a:solidFill>
                <a:latin typeface="Microsoft YaHei"/>
              </a:defRPr>
            </a:pPr>
            <a:r>
              <a:t>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58" y="210312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00"/>
              </a:lnSpc>
              <a:spcAft>
                <a:spcPts val="200"/>
              </a:spcAft>
              <a:defRPr sz="1500" b="1">
                <a:solidFill>
                  <a:srgbClr val="1A6B3C"/>
                </a:solidFill>
                <a:latin typeface="Microsoft YaHei"/>
              </a:defRPr>
            </a:pPr>
            <a:r>
              <a:t>Vue 3 Web后台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8" y="2514600"/>
            <a:ext cx="283464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00"/>
              </a:lnSpc>
              <a:spcAft>
                <a:spcPts val="200"/>
              </a:spcAft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Vue 3 + TypeScript</a:t>
            </a:r>
            <a:br/>
            <a:r>
              <a:t>Vite 构建 + Pinia 状态</a:t>
            </a:r>
            <a:br/>
            <a:r>
              <a:t>Vue Router 路由</a:t>
            </a:r>
            <a:br/>
            <a:r>
              <a:t>10个管理页面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58" y="4023360"/>
            <a:ext cx="155448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58" y="402336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1">
                <a:solidFill>
                  <a:srgbClr val="1E40AF"/>
                </a:solidFill>
                <a:latin typeface="Microsoft YaHei"/>
              </a:defRPr>
            </a:pPr>
            <a:r>
              <a:t>管理层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754880"/>
            <a:ext cx="11064240" cy="109728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846320"/>
            <a:ext cx="10789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🌐 外部服务依赖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138928"/>
            <a:ext cx="10789920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微信开放平台 — 登录授权（code换openid）  |  Open-Meteo — 免费天气API（主）  |  高德地图 — 天气Fallback + 地图SDK  |  有道词典 — TTS语音Fallback  |  Railway — 云部署平台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00"/>
              </a:lnSpc>
              <a:spcAft>
                <a:spcPts val="200"/>
              </a:spcAft>
              <a:defRPr sz="2600" b="1">
                <a:solidFill>
                  <a:srgbClr val="14522F"/>
                </a:solidFill>
                <a:latin typeface="Microsoft YaHei"/>
              </a:defRPr>
            </a:pPr>
            <a:r>
              <a:t>技术栈详解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270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457200" cy="457200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435608"/>
            <a:ext cx="402336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41732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2D2D2D"/>
                </a:solidFill>
                <a:latin typeface="Microsoft YaHei"/>
              </a:defRPr>
            </a:pPr>
            <a:r>
              <a:t>微信小程序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原生框架 WXML + WXSS + JS</a:t>
            </a:r>
            <a:br/>
            <a:r>
              <a:t>自定义TabBar，WechatSI语音插件</a:t>
            </a:r>
            <a:br/>
            <a:r>
              <a:t>高德地图SDK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52928"/>
            <a:ext cx="822960" cy="274320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52928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2E8B57"/>
                </a:solidFill>
                <a:latin typeface="Microsoft YaHei"/>
              </a:defRPr>
            </a:pPr>
            <a:r>
              <a:t>前端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19" y="128016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79" y="1417320"/>
            <a:ext cx="457200" cy="457200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1" y="1435608"/>
            <a:ext cx="402336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🖥️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39" y="141732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2D2D2D"/>
                </a:solidFill>
                <a:latin typeface="Microsoft YaHei"/>
              </a:defRPr>
            </a:pPr>
            <a:r>
              <a:t>Vue 3 Web后台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201168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Vue 3 + TypeScript + Vite</a:t>
            </a:r>
            <a:br/>
            <a:r>
              <a:t>Pinia状态管理 + Vue Router路由</a:t>
            </a:r>
            <a:br/>
            <a:r>
              <a:t>10个管理页面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79" y="2852928"/>
            <a:ext cx="822960" cy="2743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79" y="2852928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E40AF"/>
                </a:solidFill>
                <a:latin typeface="Microsoft YaHei"/>
              </a:defRPr>
            </a:pPr>
            <a:r>
              <a:t>管理端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58" y="128016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75318" y="1417320"/>
            <a:ext cx="457200" cy="457200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0" y="1435608"/>
            <a:ext cx="402336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78" y="141732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2D2D2D"/>
                </a:solidFill>
                <a:latin typeface="Microsoft YaHei"/>
              </a:defRPr>
            </a:pPr>
            <a:r>
              <a:t>Express 后端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8" y="201168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Node.js + TypeScript + Express</a:t>
            </a:r>
            <a:br/>
            <a:r>
              <a:t>SQL.js嵌入式数据库，Pino日志</a:t>
            </a:r>
            <a:br/>
            <a:r>
              <a:t>Railway部署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18" y="2852928"/>
            <a:ext cx="822960" cy="2743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18" y="2852928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C8953A"/>
                </a:solidFill>
                <a:latin typeface="Microsoft YaHei"/>
              </a:defRPr>
            </a:pPr>
            <a:r>
              <a:t>服务端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74904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3886200"/>
            <a:ext cx="457200" cy="457200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3904488"/>
            <a:ext cx="402336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🗄️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388620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2D2D2D"/>
                </a:solidFill>
                <a:latin typeface="Microsoft YaHei"/>
              </a:defRPr>
            </a:pPr>
            <a:r>
              <a:t>SQL.js 数据库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48056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SQLite编译为WebAssembly</a:t>
            </a:r>
            <a:br/>
            <a:r>
              <a:t>零配置嵌入式运行</a:t>
            </a:r>
            <a:br/>
            <a:r>
              <a:t>每小时自动备份保留24份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321808"/>
            <a:ext cx="822960" cy="2743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321808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5B21B6"/>
                </a:solidFill>
                <a:latin typeface="Microsoft YaHei"/>
              </a:defRPr>
            </a:pPr>
            <a:r>
              <a:t>存储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19" y="374904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526279" y="3886200"/>
            <a:ext cx="457200" cy="457200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53711" y="3904488"/>
            <a:ext cx="402336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🛡️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39" y="388620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2D2D2D"/>
                </a:solidFill>
                <a:latin typeface="Microsoft YaHei"/>
              </a:defRPr>
            </a:pPr>
            <a:r>
              <a:t>安全中间件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79" y="448056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Helmet安全头 + CORS</a:t>
            </a:r>
            <a:br/>
            <a:r>
              <a:t>Rate Limit(100次/15分钟)</a:t>
            </a:r>
            <a:br/>
            <a:r>
              <a:t>Zod参数验证 + 审计日志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26279" y="5321808"/>
            <a:ext cx="822960" cy="2743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26279" y="5321808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EF5350"/>
                </a:solidFill>
                <a:latin typeface="Microsoft YaHei"/>
              </a:defRPr>
            </a:pPr>
            <a:r>
              <a:t>安全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58" y="374904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75318" y="3886200"/>
            <a:ext cx="457200" cy="457200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02750" y="3904488"/>
            <a:ext cx="402336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☁️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78" y="388620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2D2D2D"/>
                </a:solidFill>
                <a:latin typeface="Microsoft YaHei"/>
              </a:defRPr>
            </a:pPr>
            <a:r>
              <a:t>Railway 部署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18" y="448056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云端一键部署，持久化卷挂载数据</a:t>
            </a:r>
            <a:br/>
            <a:r>
              <a:t>环境变量配置</a:t>
            </a:r>
            <a:br/>
            <a:r>
              <a:t>优雅关停SIGTERM/SIGINT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75318" y="5321808"/>
            <a:ext cx="822960" cy="274320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18" y="5321808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Microsoft YaHei"/>
              </a:defRPr>
            </a:pPr>
            <a:r>
              <a:t>运维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00"/>
              </a:lnSpc>
              <a:spcAft>
                <a:spcPts val="200"/>
              </a:spcAft>
              <a:defRPr sz="2600" b="1">
                <a:solidFill>
                  <a:srgbClr val="14522F"/>
                </a:solidFill>
                <a:latin typeface="Microsoft YaHei"/>
              </a:defRPr>
            </a:pPr>
            <a:r>
              <a:t>页面路由与导航体系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Pages &amp; Navigation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270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2E8B57"/>
                </a:solidFill>
                <a:latin typeface="Microsoft YaHei"/>
              </a:defRPr>
            </a:pPr>
            <a:r>
              <a:t>TABBAR 主页（4个）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序号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640080" cy="36576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图标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548640" cy="36576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1" y="155448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名称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1" y="1554480"/>
            <a:ext cx="1371600" cy="36576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2" y="15544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路径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2" y="1554480"/>
            <a:ext cx="2286000" cy="36576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5" y="15544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核心功能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5" y="1554480"/>
            <a:ext cx="3200400" cy="36576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1965960"/>
            <a:ext cx="6400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1965960"/>
            <a:ext cx="640080" cy="320040"/>
          </a:xfrm>
          <a:prstGeom prst="rect">
            <a:avLst/>
          </a:prstGeom>
          <a:noFill/>
          <a:ln w="635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1993392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1965960"/>
            <a:ext cx="5486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1965960"/>
            <a:ext cx="548640" cy="320040"/>
          </a:xfrm>
          <a:prstGeom prst="rect">
            <a:avLst/>
          </a:prstGeom>
          <a:noFill/>
          <a:ln w="635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1993392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1" y="1965960"/>
            <a:ext cx="1371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1" y="1965960"/>
            <a:ext cx="1371600" cy="320040"/>
          </a:xfrm>
          <a:prstGeom prst="rect">
            <a:avLst/>
          </a:prstGeom>
          <a:noFill/>
          <a:ln w="635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1" y="1993392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首页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2" y="1965960"/>
            <a:ext cx="2286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2" y="1965960"/>
            <a:ext cx="2286000" cy="320040"/>
          </a:xfrm>
          <a:prstGeom prst="rect">
            <a:avLst/>
          </a:prstGeom>
          <a:noFill/>
          <a:ln w="635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2" y="1993392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pages/index/index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5" y="1965960"/>
            <a:ext cx="3200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5" y="1965960"/>
            <a:ext cx="3200400" cy="320040"/>
          </a:xfrm>
          <a:prstGeom prst="rect">
            <a:avLst/>
          </a:prstGeom>
          <a:noFill/>
          <a:ln w="635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5" y="1993392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轮播图、功能模块、热门推荐、天气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2313432"/>
            <a:ext cx="64008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2313432"/>
            <a:ext cx="640080" cy="320040"/>
          </a:xfrm>
          <a:prstGeom prst="rect">
            <a:avLst/>
          </a:prstGeom>
          <a:noFill/>
          <a:ln w="635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2340864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2313432"/>
            <a:ext cx="54864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2313432"/>
            <a:ext cx="548640" cy="320040"/>
          </a:xfrm>
          <a:prstGeom prst="rect">
            <a:avLst/>
          </a:prstGeom>
          <a:noFill/>
          <a:ln w="635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2340864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⛰️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1" y="2313432"/>
            <a:ext cx="13716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1" y="2313432"/>
            <a:ext cx="1371600" cy="320040"/>
          </a:xfrm>
          <a:prstGeom prst="rect">
            <a:avLst/>
          </a:prstGeom>
          <a:noFill/>
          <a:ln w="635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1" y="2340864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景点导览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2" y="2313432"/>
            <a:ext cx="22860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2" y="2313432"/>
            <a:ext cx="2286000" cy="320040"/>
          </a:xfrm>
          <a:prstGeom prst="rect">
            <a:avLst/>
          </a:prstGeom>
          <a:noFill/>
          <a:ln w="635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2" y="2340864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pages/scenic/scenic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5" y="2313432"/>
            <a:ext cx="32004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5" y="2313432"/>
            <a:ext cx="3200400" cy="320040"/>
          </a:xfrm>
          <a:prstGeom prst="rect">
            <a:avLst/>
          </a:prstGeom>
          <a:noFill/>
          <a:ln w="635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5" y="2340864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7大景点、分类筛选、老人友好评分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2660904"/>
            <a:ext cx="6400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" y="2660904"/>
            <a:ext cx="640080" cy="320040"/>
          </a:xfrm>
          <a:prstGeom prst="rect">
            <a:avLst/>
          </a:prstGeom>
          <a:noFill/>
          <a:ln w="635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2688336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2660904"/>
            <a:ext cx="5486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0" y="2660904"/>
            <a:ext cx="548640" cy="320040"/>
          </a:xfrm>
          <a:prstGeom prst="rect">
            <a:avLst/>
          </a:prstGeom>
          <a:noFill/>
          <a:ln w="635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2688336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🛡️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1" y="2660904"/>
            <a:ext cx="1371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0081" y="2660904"/>
            <a:ext cx="1371600" cy="320040"/>
          </a:xfrm>
          <a:prstGeom prst="rect">
            <a:avLst/>
          </a:prstGeom>
          <a:noFill/>
          <a:ln w="635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1" y="2688336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安全防护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2" y="2660904"/>
            <a:ext cx="2286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0082" y="2660904"/>
            <a:ext cx="2286000" cy="320040"/>
          </a:xfrm>
          <a:prstGeom prst="rect">
            <a:avLst/>
          </a:prstGeom>
          <a:noFill/>
          <a:ln w="635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5802" y="2688336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pages/safety/safety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5" y="2660904"/>
            <a:ext cx="3200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0085" y="2660904"/>
            <a:ext cx="3200400" cy="320040"/>
          </a:xfrm>
          <a:prstGeom prst="rect">
            <a:avLst/>
          </a:prstGeom>
          <a:noFill/>
          <a:ln w="635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5" y="2688336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天气预警、路滑评估、出行建议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" y="3008376"/>
            <a:ext cx="64008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0080" y="3008376"/>
            <a:ext cx="640080" cy="320040"/>
          </a:xfrm>
          <a:prstGeom prst="rect">
            <a:avLst/>
          </a:prstGeom>
          <a:noFill/>
          <a:ln w="635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" y="3035808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" y="3008376"/>
            <a:ext cx="54864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40080" y="3008376"/>
            <a:ext cx="548640" cy="320040"/>
          </a:xfrm>
          <a:prstGeom prst="rect">
            <a:avLst/>
          </a:prstGeom>
          <a:noFill/>
          <a:ln w="635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5800" y="3035808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👤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0081" y="3008376"/>
            <a:ext cx="13716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1" y="3008376"/>
            <a:ext cx="1371600" cy="320040"/>
          </a:xfrm>
          <a:prstGeom prst="rect">
            <a:avLst/>
          </a:prstGeom>
          <a:noFill/>
          <a:ln w="635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5801" y="3035808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个人中心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2" y="3008376"/>
            <a:ext cx="22860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2" y="3008376"/>
            <a:ext cx="2286000" cy="320040"/>
          </a:xfrm>
          <a:prstGeom prst="rect">
            <a:avLst/>
          </a:prstGeom>
          <a:noFill/>
          <a:ln w="635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85802" y="3035808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pages/user/user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5" y="3008376"/>
            <a:ext cx="32004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0085" y="3008376"/>
            <a:ext cx="3200400" cy="320040"/>
          </a:xfrm>
          <a:prstGeom prst="rect">
            <a:avLst/>
          </a:prstGeom>
          <a:noFill/>
          <a:ln w="635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5805" y="303580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登录、订单、收藏、SOS、语音设置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34747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2E8B57"/>
                </a:solidFill>
                <a:latin typeface="Microsoft YaHei"/>
              </a:defRPr>
            </a:pPr>
            <a:r>
              <a:t>辅助功能页 + 电商页（14个）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40080" y="3886200"/>
            <a:ext cx="2011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0080" y="3886200"/>
            <a:ext cx="2011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🗺️ 地图导览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871216" y="3886200"/>
            <a:ext cx="2011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871216" y="3886200"/>
            <a:ext cx="2011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🍜 桂林美食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102352" y="3886200"/>
            <a:ext cx="2011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102352" y="3886200"/>
            <a:ext cx="2011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🚌 交通出行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333488" y="3886200"/>
            <a:ext cx="2011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33488" y="3886200"/>
            <a:ext cx="2011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🚦 实时路况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564624" y="3886200"/>
            <a:ext cx="2011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564624" y="3886200"/>
            <a:ext cx="2011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💚 健康记录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40080" y="4572000"/>
            <a:ext cx="2011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0080" y="4572000"/>
            <a:ext cx="2011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🆘 紧急求助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871216" y="4572000"/>
            <a:ext cx="2011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871216" y="4572000"/>
            <a:ext cx="2011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🤖 智能助手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102352" y="4572000"/>
            <a:ext cx="2011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102352" y="4572000"/>
            <a:ext cx="2011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📂 分类浏览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333488" y="4572000"/>
            <a:ext cx="2011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333488" y="4572000"/>
            <a:ext cx="2011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🔍 商品搜索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564624" y="4572000"/>
            <a:ext cx="2011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564624" y="4572000"/>
            <a:ext cx="2011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📋 商品列表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40080" y="5257800"/>
            <a:ext cx="2011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40080" y="5257800"/>
            <a:ext cx="2011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🛒 购物车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871216" y="5257800"/>
            <a:ext cx="2011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871216" y="5257800"/>
            <a:ext cx="2011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📦 订单列表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102352" y="5257800"/>
            <a:ext cx="2011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102352" y="5257800"/>
            <a:ext cx="2011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📍 地址管理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333488" y="5257800"/>
            <a:ext cx="2011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333488" y="5257800"/>
            <a:ext cx="2011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📝 商品详情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00"/>
              </a:lnSpc>
              <a:spcAft>
                <a:spcPts val="200"/>
              </a:spcAft>
              <a:defRPr sz="2600" b="1">
                <a:solidFill>
                  <a:srgbClr val="14522F"/>
                </a:solidFill>
                <a:latin typeface="Microsoft YaHei"/>
              </a:defRPr>
            </a:pPr>
            <a:r>
              <a:t>首页设计与功能模块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Home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270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303520" cy="68580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区域1：安全栏 .safety-bar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18488"/>
            <a:ext cx="5029200" cy="2103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天气emoji + 实时温度 + "桂林·银发宜居"标签，来自Open-Meteo/高德API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5303520" cy="68580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区域2：轮播图 .swiper-box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95728"/>
            <a:ext cx="5029200" cy="2103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360rpx高度，3张精美Banner（b1.jpg/b2.jpg/b3.jpg），图片加载失败自动降级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88920"/>
            <a:ext cx="5303520" cy="68580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803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区域3：功能模块网格 .module-grid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72968"/>
            <a:ext cx="5029200" cy="2103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2行×4列，8个入口：景区导览、地图导览、桂林美食、交通出行、安全保障、健康记录、紧急求助、全部商品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66160"/>
            <a:ext cx="5303520" cy="68580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6576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区域4：热门推荐 .hot-section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50208"/>
            <a:ext cx="5029200" cy="2103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2×3商品卡片网格，支持骨架屏、错误重试、空状态三种UI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2344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1A6B3C"/>
                </a:solidFill>
                <a:latin typeface="Microsoft YaHei"/>
              </a:defRPr>
            </a:pPr>
            <a:r>
              <a:t>数据加载策略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60020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📡 天气：onLoad + onShow 双重加载，本地fallback兜底（22°C多云）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9202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📡 热门推荐：API优先 → 失败后6条本地硬编码兜底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24028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📡 分类数据：onLaunch预加载至全局缓存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56032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📡 轮播图：静态资源，binderror自动移除损坏图片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01752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1A6B3C"/>
                </a:solidFill>
                <a:latin typeface="Microsoft YaHei"/>
              </a:defRPr>
            </a:pPr>
            <a:r>
              <a:t>热门推荐状态机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38328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Consolas"/>
              </a:defRPr>
            </a:pPr>
            <a:r>
              <a:t>loadingHot=true          → 显示骨架屏动画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675888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Consolas"/>
              </a:defRPr>
            </a:pPr>
            <a:r>
              <a:t>loadingHot=false + error → 显示错误状态 + 重新加载按钮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968496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Consolas"/>
              </a:defRPr>
            </a:pPr>
            <a:r>
              <a:t>loadingHot=false + 空数据 → 显示空状态提示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261104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Consolas"/>
              </a:defRPr>
            </a:pPr>
            <a:r>
              <a:t>loadingHot=false + 有数据 → 显示2×3商品卡片网格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00"/>
              </a:lnSpc>
              <a:spcAft>
                <a:spcPts val="200"/>
              </a:spcAft>
              <a:defRPr sz="2600" b="1">
                <a:solidFill>
                  <a:srgbClr val="14522F"/>
                </a:solidFill>
                <a:latin typeface="Microsoft YaHei"/>
              </a:defRPr>
            </a:pPr>
            <a:r>
              <a:t>景点导览模块详解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Scenic Spots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270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645920" cy="347472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645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景点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1" y="1234440"/>
            <a:ext cx="731520" cy="347472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1" y="1234440"/>
            <a:ext cx="731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等级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2" y="1234440"/>
            <a:ext cx="731520" cy="347472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2" y="1234440"/>
            <a:ext cx="731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价格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3" y="1234440"/>
            <a:ext cx="822960" cy="347472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3" y="1234440"/>
            <a:ext cx="822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老人评分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4" y="1234440"/>
            <a:ext cx="731520" cy="347472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4" y="1234440"/>
            <a:ext cx="731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台阶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581912"/>
            <a:ext cx="16459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1581912"/>
            <a:ext cx="164592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58191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漓江精华段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1" y="1581912"/>
            <a:ext cx="7315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1" y="1581912"/>
            <a:ext cx="73152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1" y="1581912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5A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2" y="1581912"/>
            <a:ext cx="7315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2" y="1581912"/>
            <a:ext cx="73152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2" y="1581912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¥215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3" y="1581912"/>
            <a:ext cx="82296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3" y="1581912"/>
            <a:ext cx="82296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3" y="1581912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4.2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4" y="1581912"/>
            <a:ext cx="7315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4" y="1581912"/>
            <a:ext cx="73152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4" y="1581912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0级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1911096"/>
            <a:ext cx="1645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1911096"/>
            <a:ext cx="164592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1911096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象鼻山公园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1" y="1911096"/>
            <a:ext cx="731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1" y="1911096"/>
            <a:ext cx="73152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1" y="1911096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5A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2" y="1911096"/>
            <a:ext cx="731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2" y="1911096"/>
            <a:ext cx="73152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2" y="1911096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¥55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3" y="1911096"/>
            <a:ext cx="8229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3" y="1911096"/>
            <a:ext cx="82296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3" y="1911096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3.8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4" y="1911096"/>
            <a:ext cx="731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4" y="1911096"/>
            <a:ext cx="73152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4" y="1911096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~80级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2240280"/>
            <a:ext cx="16459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2240280"/>
            <a:ext cx="164592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224028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两江四湖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1" y="2240280"/>
            <a:ext cx="7315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8641" y="2240280"/>
            <a:ext cx="73152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1" y="224028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5A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2" y="2240280"/>
            <a:ext cx="7315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8642" y="2240280"/>
            <a:ext cx="73152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2" y="224028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¥220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3" y="2240280"/>
            <a:ext cx="82296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3" y="2240280"/>
            <a:ext cx="82296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3" y="224028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4.3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4" y="2240280"/>
            <a:ext cx="7315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8644" y="2240280"/>
            <a:ext cx="73152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4" y="224028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0级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2569464"/>
            <a:ext cx="1645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8640" y="2569464"/>
            <a:ext cx="164592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2569464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阳朔西街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1" y="2569464"/>
            <a:ext cx="731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8641" y="2569464"/>
            <a:ext cx="73152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1" y="2569464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4A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2" y="2569464"/>
            <a:ext cx="731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8642" y="2569464"/>
            <a:ext cx="73152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2" y="2569464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免费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3" y="2569464"/>
            <a:ext cx="8229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48643" y="2569464"/>
            <a:ext cx="82296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3" y="2569464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4.5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4" y="2569464"/>
            <a:ext cx="731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48644" y="2569464"/>
            <a:ext cx="73152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4" y="2569464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0级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8640" y="2898648"/>
            <a:ext cx="16459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48640" y="2898648"/>
            <a:ext cx="164592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" y="2898648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龙脊梯田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1" y="2898648"/>
            <a:ext cx="7315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48641" y="2898648"/>
            <a:ext cx="73152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1" y="2898648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4A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48642" y="2898648"/>
            <a:ext cx="7315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48642" y="2898648"/>
            <a:ext cx="73152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8642" y="2898648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¥80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8643" y="2898648"/>
            <a:ext cx="82296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48643" y="2898648"/>
            <a:ext cx="82296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48643" y="2898648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2.5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8644" y="2898648"/>
            <a:ext cx="7315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48644" y="2898648"/>
            <a:ext cx="73152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8644" y="2898648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~200级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8640" y="3227832"/>
            <a:ext cx="1645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48640" y="3227832"/>
            <a:ext cx="164592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48640" y="322783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芦笛岩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48641" y="3227832"/>
            <a:ext cx="731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48641" y="3227832"/>
            <a:ext cx="73152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8641" y="3227832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4A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8642" y="3227832"/>
            <a:ext cx="731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48642" y="3227832"/>
            <a:ext cx="73152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48642" y="3227832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¥90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48643" y="3227832"/>
            <a:ext cx="8229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48643" y="3227832"/>
            <a:ext cx="82296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48643" y="3227832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3.5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48644" y="3227832"/>
            <a:ext cx="731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48644" y="3227832"/>
            <a:ext cx="73152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48644" y="3227832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~60级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48640" y="3557016"/>
            <a:ext cx="16459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48640" y="3557016"/>
            <a:ext cx="164592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48640" y="3557016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杨堤码头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48641" y="3557016"/>
            <a:ext cx="7315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48641" y="3557016"/>
            <a:ext cx="73152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48641" y="3557016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精华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48642" y="3557016"/>
            <a:ext cx="7315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8642" y="3557016"/>
            <a:ext cx="73152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48642" y="3557016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¥160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48643" y="3557016"/>
            <a:ext cx="82296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8643" y="3557016"/>
            <a:ext cx="82296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48643" y="3557016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3.9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48644" y="3557016"/>
            <a:ext cx="7315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548644" y="3557016"/>
            <a:ext cx="731520" cy="320040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48644" y="3557016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0级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760720" y="1234440"/>
            <a:ext cx="5669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1A6B3C"/>
                </a:solidFill>
                <a:latin typeface="Microsoft YaHei"/>
              </a:defRPr>
            </a:pPr>
            <a:r>
              <a:t>老人友好信息体系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760720" y="1600200"/>
            <a:ext cx="5669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⭐ 老人友好评分：综合步行距离、台阶数、休息区打分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760720" y="1892808"/>
            <a:ext cx="5669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🚶 步行距离：精确到百米级别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760720" y="2185416"/>
            <a:ext cx="5669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🪜 台阶数量：详细描述台阶数和难度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760720" y="2478024"/>
            <a:ext cx="5669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🪑 休息区信息：标明是否有休息亭/座椅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760720" y="2770632"/>
            <a:ext cx="5669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⚠️ 安全提示：雨天湿滑、台阶陡峭等针对性提醒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760720" y="3063240"/>
            <a:ext cx="5669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🚌 交通指南：公交路线和站点信息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760720" y="3355848"/>
            <a:ext cx="5669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🕐 开放时间：详细的营业时间段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760720" y="3703320"/>
            <a:ext cx="5669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1A6B3C"/>
                </a:solidFill>
                <a:latin typeface="Microsoft YaHei"/>
              </a:defRPr>
            </a:pPr>
            <a:r>
              <a:t>交互功能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760720" y="4041648"/>
            <a:ext cx="5669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👆 展开/收起：点击卡片展开详情，再次点击收起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760720" y="4315968"/>
            <a:ext cx="5669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❤️ 收藏系统：基于localStorage，跨页实时同步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760720" y="4590288"/>
            <a:ext cx="5669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🔊 语音播报：展开时自动朗读景点介绍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00"/>
              </a:lnSpc>
              <a:spcAft>
                <a:spcPts val="200"/>
              </a:spcAft>
              <a:defRPr sz="2600" b="1">
                <a:solidFill>
                  <a:srgbClr val="14522F"/>
                </a:solidFill>
                <a:latin typeface="Microsoft YaHei"/>
              </a:defRPr>
            </a:pPr>
            <a:r>
              <a:t>安全防护模块详解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Safety Center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270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303520" cy="96012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🌤️ 天气与路况卡片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18488"/>
            <a:ext cx="5029200" cy="4846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实时显示桂林天气（温度/湿度/风向），集成路滑风险评级（3级：安全/注意/预警），根据天气自动匹配出行建议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5303520" cy="96012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6888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📋 出行建议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61488"/>
            <a:ext cx="5029200" cy="4846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智能推荐/避开列表：晴天推荐象鼻山+两江四湖+阳朔西街，雨天推荐芦笛岩+靖江王城室内景点，避开龙脊梯田+杨堤竹筏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20440"/>
            <a:ext cx="5303520" cy="96012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61188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🚨 紧急操作三按钮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04488"/>
            <a:ext cx="5029200" cy="4846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一键拨打120急救电话 / 一键获取GPS位置并复制分享链接 / 跳转紧急联系人管理页面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2344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银发安全提示（6条分级）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6459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2D2D2D"/>
                </a:solidFill>
                <a:latin typeface="Microsoft YaHei"/>
              </a:defRPr>
            </a:pPr>
            <a:r>
              <a:t>⚠️ 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6459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景区湿滑台阶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64592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使用扶手，一步一阶，勿停留拍照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96596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2D2D2D"/>
                </a:solidFill>
                <a:latin typeface="Microsoft YaHei"/>
              </a:defRPr>
            </a:pPr>
            <a:r>
              <a:t>⚠️ 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19659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雨后石板路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96596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绕行或等地面干燥，穿防滑鞋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2860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2D2D2D"/>
                </a:solidFill>
                <a:latin typeface="Microsoft YaHei"/>
              </a:defRPr>
            </a:pPr>
            <a:r>
              <a:t>⚡ 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2860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上下旅游巴士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28600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抓牢车门扶手，车停稳后再上下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6060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2D2D2D"/>
                </a:solidFill>
                <a:latin typeface="Microsoft YaHei"/>
              </a:defRPr>
            </a:pPr>
            <a:r>
              <a:t>⚡ 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6060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漓江游船甲板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60604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不走到甲板边缘，穿平底鞋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92608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2D2D2D"/>
                </a:solidFill>
                <a:latin typeface="Microsoft YaHei"/>
              </a:defRPr>
            </a:pPr>
            <a:r>
              <a:t>✅ 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926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酒店卫生间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926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使用防滑拖鞋，铺防滑垫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2461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2D2D2D"/>
                </a:solidFill>
                <a:latin typeface="Microsoft YaHei"/>
              </a:defRPr>
            </a:pPr>
            <a:r>
              <a:t>✅ 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2461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购物街区地砖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324612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注意积水和油渍，走路不看手机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749039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健康提醒（5条）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11480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💧 携带饮用水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38912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🌂 随身带折叠伞/遮阳帽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66344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💊 常用药品随身带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93776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🕐 每游览1小时休息10-15分钟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521208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📱 保持手机电量，开启定位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00"/>
              </a:lnSpc>
              <a:spcAft>
                <a:spcPts val="200"/>
              </a:spcAft>
              <a:defRPr sz="2600" b="1">
                <a:solidFill>
                  <a:srgbClr val="14522F"/>
                </a:solidFill>
                <a:latin typeface="Microsoft YaHei"/>
              </a:defRPr>
            </a:pPr>
            <a:r>
              <a:t>个人中心模块详解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User Center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270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1A6B3C"/>
                </a:solidFill>
                <a:latin typeface="Microsoft YaHei"/>
              </a:defRPr>
            </a:pPr>
            <a:r>
              <a:t>菜单功能（6项）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26060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📋 我的订单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2423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订单列表 + 创建订单 + 模拟支付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6060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737360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📍 地址管理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03120"/>
            <a:ext cx="2423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收货地址增删改 + 默认地址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26060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08960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❤️ 我的收藏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2423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收藏景点列表 + 一键清空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3017520"/>
            <a:ext cx="26060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3108960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🏥 健康记录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474720"/>
            <a:ext cx="2423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血压/心率/备注记录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89120"/>
            <a:ext cx="26060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👨‍👩‍👧 紧急联系人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2423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最多3个，支持设为主联系人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4389120"/>
            <a:ext cx="26060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4480560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🛡️ 安全设置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846320"/>
            <a:ext cx="2423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跳转安全防护页面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2344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1A6B3C"/>
                </a:solidFill>
                <a:latin typeface="Microsoft YaHei"/>
              </a:defRPr>
            </a:pPr>
            <a:r>
              <a:t>设置功能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645920"/>
            <a:ext cx="5029200" cy="658368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73736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🔊 语音提示开关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029968"/>
            <a:ext cx="4754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控制全局TTS语音播报，开启后页面切换/按钮点击均有语音反馈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423160"/>
            <a:ext cx="5029200" cy="658368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51460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🌐 语言辅助（4语切换）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2807208"/>
            <a:ext cx="4754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中文 / English / 日本語 / 한국어，切换后广播到所有活跃页面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200400"/>
            <a:ext cx="5029200" cy="658368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29184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🔤 字体缩放（3档）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584448"/>
            <a:ext cx="4754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标准(默认) | 较大(1.2倍) | 超大(1.5倍)，CSS变量全局响应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977640"/>
            <a:ext cx="5029200" cy="658368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406908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🆘 SOS紧急求助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4361688"/>
            <a:ext cx="4754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一键获取GPS位置 → 调用API通知紧急联系人 → 自动拨打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754880"/>
            <a:ext cx="5029200" cy="658368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484632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🔐 微信登录/登出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5138928"/>
            <a:ext cx="4754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wx.login获取code → /users/wxlogin换取openid → 持久化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00"/>
              </a:lnSpc>
              <a:spcAft>
                <a:spcPts val="200"/>
              </a:spcAft>
              <a:defRPr sz="2600" b="1">
                <a:solidFill>
                  <a:srgbClr val="14522F"/>
                </a:solidFill>
                <a:latin typeface="Microsoft YaHei"/>
              </a:defRPr>
            </a:pPr>
            <a:r>
              <a:t>辅助功能页面全景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Auxiliary Pages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270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474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411480" cy="411480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435608"/>
            <a:ext cx="374904" cy="3749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🗺️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38528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地图导览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高德地图SDK，桂林景点标记，GPS定位+路径导航，fallback-first渲染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80160"/>
            <a:ext cx="3474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0" y="1417320"/>
            <a:ext cx="411480" cy="411480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435608"/>
            <a:ext cx="374904" cy="3749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938528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桂林美食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2860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桂林特色美食推荐（米粉、啤酒鱼等），图文展示+价格信息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280160"/>
            <a:ext cx="3474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75320" y="1417320"/>
            <a:ext cx="411480" cy="411480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435608"/>
            <a:ext cx="374904" cy="3749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938528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交通出行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2860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公交路线、旅游大巴、自驾路线等多种交通方案推荐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108960"/>
            <a:ext cx="3474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246120"/>
            <a:ext cx="411480" cy="411480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3264408"/>
            <a:ext cx="374904" cy="3749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767328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实时路况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148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景区周边路况信息展示，帮助老人合理规划出行时间和路线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108960"/>
            <a:ext cx="3474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80560" y="3246120"/>
            <a:ext cx="411480" cy="411480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8" y="3264408"/>
            <a:ext cx="374904" cy="3749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3767328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健康记录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1148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血压记录/心率记录，本地+服务端双存储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108960"/>
            <a:ext cx="3474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75320" y="3246120"/>
            <a:ext cx="411480" cy="411480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93608" y="3264408"/>
            <a:ext cx="374904" cy="3749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767328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紧急联系人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41148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最多3个，姓名+电话+关系，支持is_primary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937760"/>
            <a:ext cx="3474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85800" y="5074920"/>
            <a:ext cx="411480" cy="411480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093208"/>
            <a:ext cx="374904" cy="3749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596128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智能助手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9436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AI智能问答助手，帮助老人解答旅行相关疑问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43400" y="4937760"/>
            <a:ext cx="3474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480560" y="5074920"/>
            <a:ext cx="411480" cy="411480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98848" y="5093208"/>
            <a:ext cx="374904" cy="3749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5596128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分类浏览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59436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按分类浏览：景点/住宿/美食/线路/特产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4937760"/>
            <a:ext cx="3474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275320" y="5074920"/>
            <a:ext cx="411480" cy="411480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93608" y="5093208"/>
            <a:ext cx="374904" cy="3749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5596128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商品搜索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59436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关键词搜索+防抖(300ms)+历史记录+LIK模糊匹配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00"/>
              </a:lnSpc>
              <a:spcAft>
                <a:spcPts val="200"/>
              </a:spcAft>
              <a:defRPr sz="2600" b="1">
                <a:solidFill>
                  <a:srgbClr val="14522F"/>
                </a:solidFill>
                <a:latin typeface="Microsoft YaHei"/>
              </a:defRPr>
            </a:pPr>
            <a:r>
              <a:t>电商功能模块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E-Commerce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270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1A6B3C"/>
                </a:solidFill>
                <a:latin typeface="Microsoft YaHei"/>
              </a:defRPr>
            </a:pPr>
            <a:r>
              <a:t>完整电商闭环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1143000" cy="384048"/>
          </a:xfrm>
          <a:prstGeom prst="roundRect">
            <a:avLst/>
          </a:prstGeom>
          <a:solidFill>
            <a:srgbClr val="D4F0E4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143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Microsoft YaHei"/>
              </a:defRPr>
            </a:pPr>
            <a:r>
              <a:t>分类浏览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1645920"/>
            <a:ext cx="1143000" cy="384048"/>
          </a:xfrm>
          <a:prstGeom prst="roundRect">
            <a:avLst/>
          </a:prstGeom>
          <a:solidFill>
            <a:srgbClr val="D4F0E4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1645920"/>
            <a:ext cx="1143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Microsoft YaHei"/>
              </a:defRPr>
            </a:pPr>
            <a:r>
              <a:t>商品搜索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45920"/>
            <a:ext cx="1143000" cy="384048"/>
          </a:xfrm>
          <a:prstGeom prst="roundRect">
            <a:avLst/>
          </a:prstGeom>
          <a:solidFill>
            <a:srgbClr val="D4F0E4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645920"/>
            <a:ext cx="1143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Microsoft YaHei"/>
              </a:defRPr>
            </a:pPr>
            <a:r>
              <a:t>商品列表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1645920"/>
            <a:ext cx="1143000" cy="384048"/>
          </a:xfrm>
          <a:prstGeom prst="roundRect">
            <a:avLst/>
          </a:prstGeom>
          <a:solidFill>
            <a:srgbClr val="D4F0E4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645920"/>
            <a:ext cx="1143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Microsoft YaHei"/>
              </a:defRPr>
            </a:pPr>
            <a:r>
              <a:t>商品详情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645920"/>
            <a:ext cx="1143000" cy="384048"/>
          </a:xfrm>
          <a:prstGeom prst="roundRect">
            <a:avLst/>
          </a:prstGeom>
          <a:solidFill>
            <a:srgbClr val="D4F0E4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645920"/>
            <a:ext cx="1143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Microsoft YaHei"/>
              </a:defRPr>
            </a:pPr>
            <a:r>
              <a:t>加入购物车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80" y="1645920"/>
            <a:ext cx="1143000" cy="384048"/>
          </a:xfrm>
          <a:prstGeom prst="roundRect">
            <a:avLst/>
          </a:prstGeom>
          <a:solidFill>
            <a:srgbClr val="D4F0E4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80" y="1645920"/>
            <a:ext cx="1143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Microsoft YaHei"/>
              </a:defRPr>
            </a:pPr>
            <a:r>
              <a:t>创建订单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645920"/>
            <a:ext cx="1143000" cy="384048"/>
          </a:xfrm>
          <a:prstGeom prst="roundRect">
            <a:avLst/>
          </a:prstGeom>
          <a:solidFill>
            <a:srgbClr val="D4F0E4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645920"/>
            <a:ext cx="1143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Microsoft YaHei"/>
              </a:defRPr>
            </a:pPr>
            <a:r>
              <a:t>模拟支付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24028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1A6B3C"/>
                </a:solidFill>
                <a:latin typeface="Microsoft YaHei"/>
              </a:defRPr>
            </a:pPr>
            <a:r>
              <a:t>5大商品分类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60604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1A6B3C"/>
                </a:solidFill>
                <a:latin typeface="Microsoft YaHei"/>
              </a:defRPr>
            </a:pPr>
            <a:r>
              <a:t>🏔️ 漓江景点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260604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1A6B3C"/>
                </a:solidFill>
                <a:latin typeface="Microsoft YaHei"/>
              </a:defRPr>
            </a:pPr>
            <a:r>
              <a:t>🏨 酒店住宿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260604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1A6B3C"/>
                </a:solidFill>
                <a:latin typeface="Microsoft YaHei"/>
              </a:defRPr>
            </a:pPr>
            <a:r>
              <a:t>🍜 桂林美食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60604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1A6B3C"/>
                </a:solidFill>
                <a:latin typeface="Microsoft YaHei"/>
              </a:defRPr>
            </a:pPr>
            <a:r>
              <a:t>🚩 旅游线路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260604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1A6B3C"/>
                </a:solidFill>
                <a:latin typeface="Microsoft YaHei"/>
              </a:defRPr>
            </a:pPr>
            <a:r>
              <a:t>🎁 桂林特产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01752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1A6B3C"/>
                </a:solidFill>
                <a:latin typeface="Microsoft YaHei"/>
              </a:defRPr>
            </a:pPr>
            <a:r>
              <a:t>购物车管理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38328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➕ 加入购物车：POST /cart/add，已存在则累加数量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65760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✏️ 修改数量：PUT /cart/:itemId，quantity≤0时自动删除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93192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🗑️ 删除商品：DELETE /cart/:itemId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20624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🧹 清空购物车：POST /cart/clear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12344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1A6B3C"/>
                </a:solidFill>
                <a:latin typeface="Microsoft YaHei"/>
              </a:defRPr>
            </a:pPr>
            <a:r>
              <a:t>订单流程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60020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Consolas"/>
              </a:defRPr>
            </a:pPr>
            <a:r>
              <a:t>创建订单 → 生成订单号(ORD+时间戳)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856232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Consolas"/>
              </a:defRPr>
            </a:pPr>
            <a:r>
              <a:t>→ 计算总价(quantity × unit_price)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112264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Consolas"/>
              </a:defRPr>
            </a:pPr>
            <a:r>
              <a:t>→ 状态: pending(待支付)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368296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Consolas"/>
              </a:defRPr>
            </a:pPr>
            <a:r>
              <a:t>→ POST /orders/:id/paid 模拟支付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624328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Consolas"/>
              </a:defRPr>
            </a:pPr>
            <a:r>
              <a:t>→ 状态: paid(已支付)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01752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1A6B3C"/>
                </a:solidFill>
                <a:latin typeface="Microsoft YaHei"/>
              </a:defRPr>
            </a:pPr>
            <a:r>
              <a:t>地址管理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401568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📝 创建地址：姓名 + 手机号(Zod正则验证) + 详细地址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70332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⭐ 默认地址：设置is_default时自动取消其他默认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00"/>
              </a:lnSpc>
              <a:spcAft>
                <a:spcPts val="200"/>
              </a:spcAft>
              <a:defRPr sz="2600" b="1">
                <a:solidFill>
                  <a:srgbClr val="14522F"/>
                </a:solidFill>
                <a:latin typeface="Microsoft YaHei"/>
              </a:defRPr>
            </a:pPr>
            <a:r>
              <a:t>银发友好设计体系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Elderly-Friendly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270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5204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411480" cy="411480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417320"/>
            <a:ext cx="374904" cy="3749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3246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三档字体缩放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324612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标准 (normal)：默认字体大小</a:t>
            </a:r>
            <a:br/>
            <a:r>
              <a:t>较大 (large)：整体放大1.2倍</a:t>
            </a:r>
            <a:br/>
            <a:r>
              <a:t>超大 (huge)：整体放大1.5倍</a:t>
            </a:r>
            <a:br/>
            <a:br/>
            <a:r>
              <a:t>实现：CSS类选择器 + getCurrentPages()广播</a:t>
            </a:r>
            <a:br/>
            <a:r>
              <a:t>.font-mode-small / .font-mode-large / .font-mode-huge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80160"/>
            <a:ext cx="35204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26280" y="1417320"/>
            <a:ext cx="411480" cy="411480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417320"/>
            <a:ext cx="374904" cy="3749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20240"/>
            <a:ext cx="3246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全程语音播报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86000"/>
            <a:ext cx="324612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主方案：WechatSI插件 (textToSpeech)</a:t>
            </a:r>
            <a:br/>
            <a:r>
              <a:t>备选方案：有道词典TTS API</a:t>
            </a:r>
            <a:br/>
            <a:br/>
            <a:r>
              <a:t>触发场景：页面切换、按钮点击、景点展开</a:t>
            </a:r>
            <a:br/>
            <a:r>
              <a:t>安全提示朗读、SOS求助确认</a:t>
            </a:r>
            <a:br/>
            <a:r>
              <a:t>支持4语种：zh_CN / en_US / ja_JP / ko_KR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280160"/>
            <a:ext cx="35204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6760" y="1417320"/>
            <a:ext cx="411480" cy="411480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417320"/>
            <a:ext cx="374904" cy="3749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920240"/>
            <a:ext cx="3246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语言辅助切换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286000"/>
            <a:ext cx="324612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中文 | English | 日本語 | 한국어</a:t>
            </a:r>
            <a:br/>
            <a:br/>
            <a:r>
              <a:t>存储到globalData + wx.setStorageSync持久化</a:t>
            </a:r>
            <a:br/>
            <a:r>
              <a:t>通过getCurrentPages()广播到所有活跃页面</a:t>
            </a:r>
            <a:br/>
            <a:r>
              <a:t>影响：界面文案、语音播报语言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54880"/>
            <a:ext cx="11064240" cy="109728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846320"/>
            <a:ext cx="10789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字体切换流程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138928"/>
            <a:ext cx="10789920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用户点击 → user.js setFontSize() → app.updateFontSize(mode) → globalData更新 → Storage持久化 → getCurrentPages()广播 → 各页面setData({fontSizeMode}) → CSS类名变化 → 字体生效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00"/>
              </a:lnSpc>
              <a:spcAft>
                <a:spcPts val="200"/>
              </a:spcAft>
              <a:defRPr sz="2600" b="1">
                <a:solidFill>
                  <a:srgbClr val="14522F"/>
                </a:solidFill>
                <a:latin typeface="Microsoft YaHei"/>
              </a:defRPr>
            </a:pPr>
            <a:r>
              <a:t>安全防护体系架构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Safety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270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0800" cy="594360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🌤️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16736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第一层：天气实时监测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002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Open-Meteo免费API → 高德天气API(Fallback) → 本地静态数据兜底，三重保障。30分钟缓存。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29968"/>
            <a:ext cx="50800" cy="594360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48256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⚠️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66544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第二层：路滑风险评估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350008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根据天气状况自动评估3级风险：level 1(安全/晴朗) → level 2(注意/阴湿) → level 3(预警/雨雪)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79776"/>
            <a:ext cx="50800" cy="594360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98064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816352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第三层：智能出行建议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099816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根据天气自动推荐适合景点(suitable列表)和避开景点(avoid列表)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529584"/>
            <a:ext cx="50800" cy="594360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47872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🛡️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5661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第四层：6条分级安全提示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849624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高危(⚠️)：景区湿滑台阶+雨后石板路 | 中危(⚡)：上下巴士+游船甲板 | 低危(✅)：酒店+街区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79392"/>
            <a:ext cx="50800" cy="594360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315968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第五层：5条健康提醒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599432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补水、防晒防雨、随身药品、定时休息、保持通讯——覆盖银发出游全场景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029200"/>
            <a:ext cx="50800" cy="594360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04748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65776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第六层：SOS紧急求助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34924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GPS定位 + 通知所有紧急联系人 + 多重fallback(联系人失败→110，位置失败→直接拨110)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00"/>
              </a:lnSpc>
              <a:spcAft>
                <a:spcPts val="200"/>
              </a:spcAft>
              <a:defRPr sz="2600" b="1">
                <a:solidFill>
                  <a:srgbClr val="14522F"/>
                </a:solidFill>
                <a:latin typeface="Microsoft YaHei"/>
              </a:defRPr>
            </a:pPr>
            <a:r>
              <a:t>紧急求助SOS流程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SOS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270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正常路径：点击SOS → 二次确认 → wx.getLocation获取GPS → POST /sos/alert → 通知紧急联系人 → 语音播报 → 弹窗拨打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1A6B3C"/>
                </a:solidFill>
                <a:latin typeface="Microsoft YaHei"/>
              </a:defRPr>
            </a:pPr>
            <a:r>
              <a:t>✅ 定位成功路径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5029200" cy="54864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Step 1：调用 POST /sos/alert 发送 {openid, latitude, longitude}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4754880" cy="731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640080" y="2743200"/>
            <a:ext cx="5029200" cy="54864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3464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Step 2：后端查询is_primary=1的紧急联系人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27248"/>
            <a:ext cx="4754880" cy="731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640080" y="3383280"/>
            <a:ext cx="5029200" cy="54864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7472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Step 3：语音播报"已获取位置并通知紧急联系人"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67328"/>
            <a:ext cx="4754880" cy="731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640080" y="4023360"/>
            <a:ext cx="5029200" cy="54864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1480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Step 4a：有主联系人 → 弹窗显示姓名+电话 → 确认拨打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07408"/>
            <a:ext cx="4754880" cy="731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640080" y="4663440"/>
            <a:ext cx="5029200" cy="54864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75488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Step 4b：无联系人 → 直接拨打110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47488"/>
            <a:ext cx="4754880" cy="731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400800" y="16916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EF5350"/>
                </a:solidFill>
                <a:latin typeface="Microsoft YaHei"/>
              </a:defRPr>
            </a:pPr>
            <a:r>
              <a:t>❌ 异常处理路径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103120"/>
            <a:ext cx="50800" cy="50292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121408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1">
                <a:solidFill>
                  <a:srgbClr val="EF5350"/>
                </a:solidFill>
                <a:latin typeface="Microsoft YaHei"/>
              </a:defRPr>
            </a:pPr>
            <a:r>
              <a:t>API调用失败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37744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语音播报 → 直接拨打110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834640"/>
            <a:ext cx="50800" cy="50292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852928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1">
                <a:solidFill>
                  <a:srgbClr val="EF5350"/>
                </a:solidFill>
                <a:latin typeface="Microsoft YaHei"/>
              </a:defRPr>
            </a:pPr>
            <a:r>
              <a:t>GPS定位失败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10896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语音播报 → 直接拨打110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566160"/>
            <a:ext cx="50800" cy="50292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3584448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  <a:defRPr sz="1100" b="1">
                <a:solidFill>
                  <a:srgbClr val="EF5350"/>
                </a:solidFill>
                <a:latin typeface="Microsoft YaHei"/>
              </a:defRPr>
            </a:pPr>
            <a:r>
              <a:t>无紧急联系人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84048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跳过联系人通知 → 直接拨打110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00"/>
              </a:lnSpc>
              <a:spcAft>
                <a:spcPts val="200"/>
              </a:spcAft>
              <a:defRPr sz="2600" b="1">
                <a:solidFill>
                  <a:srgbClr val="14522F"/>
                </a:solidFill>
                <a:latin typeface="Microsoft YaHei"/>
              </a:defRPr>
            </a:pPr>
            <a:r>
              <a:t>后端架构与安全措施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Backend &amp;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270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1A6B3C"/>
                </a:solidFill>
                <a:latin typeface="Microsoft YaHei"/>
              </a:defRPr>
            </a:pPr>
            <a:r>
              <a:t>Express服务器配置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🛡️ Helmet：HTTP安全头（CSP/X-Frame/XSS防护等）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2808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📦 Compression：gzip压缩(level 6)，减少传输量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85416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🌐 CORS：可配置允许域名，支持credentials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78024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🚦 Rate Limit：每IP每15分钟100次请求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70632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📏 Body Limit：请求体限制1MB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📝 Pino日志：结构化JSON日志输出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55848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🖼️ 静态文件：图片7天缓存，支持CDN配置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48456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💚 健康检查：/health端点返回状态+时间戳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2344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1A6B3C"/>
                </a:solidFill>
                <a:latin typeface="Microsoft YaHei"/>
              </a:defRPr>
            </a:pPr>
            <a:r>
              <a:t>中间件体系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45920"/>
            <a:ext cx="5029200" cy="73152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73736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🔍 requestLogger 请求日志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记录每个请求的method、url、状态码、响应时间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560320"/>
            <a:ext cx="5029200" cy="73152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5176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✅ Zod 参数验证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944368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7个验证Schema + 手机号正则 /^1[3-9]\\d{9}$/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474720"/>
            <a:ext cx="5029200" cy="73152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56616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📋 auditLog 审计日志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858768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记录敏感操作：login、create_order、create_address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389120"/>
            <a:ext cx="5029200" cy="73152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48056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💾 SQL参数化查询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773168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db.prepare() + stmt.bind() 防止SQL注入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00"/>
              </a:lnSpc>
              <a:spcAft>
                <a:spcPts val="200"/>
              </a:spcAft>
              <a:defRPr sz="2600" b="1">
                <a:solidFill>
                  <a:srgbClr val="14522F"/>
                </a:solidFill>
                <a:latin typeface="Microsoft YaHei"/>
              </a:defRPr>
            </a:pPr>
            <a:r>
              <a:t>数据库设计（9张表）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Database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270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645920" cy="36576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表名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1" y="1188720"/>
            <a:ext cx="1371600" cy="36576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1" y="118872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用途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3" y="1188720"/>
            <a:ext cx="4114800" cy="36576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3" y="118872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核心字段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7" y="1188720"/>
            <a:ext cx="1828800" cy="36576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7" y="11887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外键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554480"/>
            <a:ext cx="1645920" cy="32918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554480"/>
            <a:ext cx="164592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572768"/>
            <a:ext cx="157276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categories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1" y="1554480"/>
            <a:ext cx="1371600" cy="32918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1" y="1554480"/>
            <a:ext cx="137160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7" y="1572768"/>
            <a:ext cx="12984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商品分类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3" y="1554480"/>
            <a:ext cx="4114800" cy="32918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3" y="1554480"/>
            <a:ext cx="411480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9" y="1572768"/>
            <a:ext cx="40416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id, name, slug(唯一), order(排序)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7" y="1554480"/>
            <a:ext cx="1828800" cy="32918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7" y="1554480"/>
            <a:ext cx="182880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23" y="1572768"/>
            <a:ext cx="17556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-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1901952"/>
            <a:ext cx="16459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1901952"/>
            <a:ext cx="164592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" y="1920240"/>
            <a:ext cx="157276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products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1" y="1901952"/>
            <a:ext cx="13716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1" y="1901952"/>
            <a:ext cx="137160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7" y="1920240"/>
            <a:ext cx="12984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商品/景点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3" y="1901952"/>
            <a:ext cx="41148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3" y="1901952"/>
            <a:ext cx="411480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9" y="1920240"/>
            <a:ext cx="40416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id, name, price, stock, image_url, is_active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7" y="1901952"/>
            <a:ext cx="18288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7" y="1901952"/>
            <a:ext cx="182880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23" y="1920240"/>
            <a:ext cx="17556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category_id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2249424"/>
            <a:ext cx="1645920" cy="32918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2249424"/>
            <a:ext cx="164592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5216" y="2267712"/>
            <a:ext cx="157276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user_profiles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1" y="2249424"/>
            <a:ext cx="1371600" cy="32918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1" y="2249424"/>
            <a:ext cx="137160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217" y="2267712"/>
            <a:ext cx="12984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用户信息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3" y="2249424"/>
            <a:ext cx="4114800" cy="32918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3" y="2249424"/>
            <a:ext cx="411480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5219" y="2267712"/>
            <a:ext cx="40416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id, openid(唯一), nickname, avatar_url, phone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7" y="2249424"/>
            <a:ext cx="1828800" cy="32918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7" y="2249424"/>
            <a:ext cx="182880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5223" y="2267712"/>
            <a:ext cx="17556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-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2596896"/>
            <a:ext cx="16459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48640" y="2596896"/>
            <a:ext cx="164592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5216" y="2615184"/>
            <a:ext cx="157276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addresses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1" y="2596896"/>
            <a:ext cx="13716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8641" y="2596896"/>
            <a:ext cx="137160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5217" y="2615184"/>
            <a:ext cx="12984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收货地址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3" y="2596896"/>
            <a:ext cx="41148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3" y="2596896"/>
            <a:ext cx="411480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5219" y="2615184"/>
            <a:ext cx="40416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id, full_name, phone, address_line, city, is_default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7" y="2596896"/>
            <a:ext cx="18288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7" y="2596896"/>
            <a:ext cx="182880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5223" y="2615184"/>
            <a:ext cx="17556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user_id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2944368"/>
            <a:ext cx="1645920" cy="32918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8640" y="2944368"/>
            <a:ext cx="164592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5216" y="2962656"/>
            <a:ext cx="157276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orders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1" y="2944368"/>
            <a:ext cx="1371600" cy="32918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48641" y="2944368"/>
            <a:ext cx="137160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85217" y="2962656"/>
            <a:ext cx="12984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订单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3" y="2944368"/>
            <a:ext cx="4114800" cy="32918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48643" y="2944368"/>
            <a:ext cx="411480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85219" y="2962656"/>
            <a:ext cx="40416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id, order_no(唯一), total_price, status(pending→paid)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7" y="2944368"/>
            <a:ext cx="1828800" cy="32918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48647" y="2944368"/>
            <a:ext cx="182880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85223" y="2962656"/>
            <a:ext cx="17556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user_id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8640" y="3291840"/>
            <a:ext cx="16459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48640" y="3291840"/>
            <a:ext cx="164592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85216" y="3310128"/>
            <a:ext cx="157276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order_items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1" y="3291840"/>
            <a:ext cx="13716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48641" y="3291840"/>
            <a:ext cx="137160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85217" y="3310128"/>
            <a:ext cx="12984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订单明细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3" y="3291840"/>
            <a:ext cx="41148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48643" y="3291840"/>
            <a:ext cx="411480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85219" y="3310128"/>
            <a:ext cx="40416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id, quantity, unit_price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48647" y="3291840"/>
            <a:ext cx="18288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48647" y="3291840"/>
            <a:ext cx="182880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85223" y="3310128"/>
            <a:ext cx="17556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order_id, product_id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48640" y="3639312"/>
            <a:ext cx="1645920" cy="32918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48640" y="3639312"/>
            <a:ext cx="164592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85216" y="3657600"/>
            <a:ext cx="157276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cart_items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48641" y="3639312"/>
            <a:ext cx="1371600" cy="32918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48641" y="3639312"/>
            <a:ext cx="137160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85217" y="3657600"/>
            <a:ext cx="12984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购物车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48643" y="3639312"/>
            <a:ext cx="4114800" cy="32918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48643" y="3639312"/>
            <a:ext cx="411480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85219" y="3657600"/>
            <a:ext cx="40416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id, quantity, created_at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48647" y="3639312"/>
            <a:ext cx="1828800" cy="32918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48647" y="3639312"/>
            <a:ext cx="182880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85223" y="3657600"/>
            <a:ext cx="17556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user_id, product_id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48640" y="3986784"/>
            <a:ext cx="16459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48640" y="3986784"/>
            <a:ext cx="164592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85216" y="4005072"/>
            <a:ext cx="157276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emergency_contacts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48641" y="3986784"/>
            <a:ext cx="13716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48641" y="3986784"/>
            <a:ext cx="137160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85217" y="4005072"/>
            <a:ext cx="12984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紧急联系人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8643" y="3986784"/>
            <a:ext cx="41148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48643" y="3986784"/>
            <a:ext cx="411480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85219" y="4005072"/>
            <a:ext cx="40416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id, name, phone, relationship, is_primary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48647" y="3986784"/>
            <a:ext cx="18288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48647" y="3986784"/>
            <a:ext cx="182880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85223" y="4005072"/>
            <a:ext cx="17556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user_id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48640" y="4334256"/>
            <a:ext cx="1645920" cy="32918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48640" y="4334256"/>
            <a:ext cx="164592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85216" y="4352544"/>
            <a:ext cx="157276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health_records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48641" y="4334256"/>
            <a:ext cx="1371600" cy="32918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8641" y="4334256"/>
            <a:ext cx="137160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85217" y="4352544"/>
            <a:ext cx="12984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健康记录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48643" y="4334256"/>
            <a:ext cx="4114800" cy="32918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48643" y="4334256"/>
            <a:ext cx="411480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85219" y="4352544"/>
            <a:ext cx="40416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id, blood_pressure, heart_rate, notes, record_date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48647" y="4334256"/>
            <a:ext cx="1828800" cy="32918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548647" y="4334256"/>
            <a:ext cx="1828800" cy="329184"/>
          </a:xfrm>
          <a:prstGeom prst="rect">
            <a:avLst/>
          </a:prstGeom>
          <a:noFill/>
          <a:ln w="63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85223" y="4352544"/>
            <a:ext cx="17556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user_id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548640" y="4572000"/>
            <a:ext cx="11064240" cy="128016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85800" y="4663440"/>
            <a:ext cx="10789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数据库特性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5800" y="4956048"/>
            <a:ext cx="10789920" cy="8046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SQL.js — SQLite编译为WebAssembly，零外部依赖，嵌入式运行  |  自动建表 — initDatabase()自动创建9张表 + 13条示例数据  |  自动备份 — 每小时备份到 backups/，保留最近24份  |  灾难恢复 — 主库损坏时自动从最新备份恢复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00"/>
              </a:lnSpc>
              <a:spcAft>
                <a:spcPts val="200"/>
              </a:spcAft>
              <a:defRPr sz="2600" b="1">
                <a:solidFill>
                  <a:srgbClr val="14522F"/>
                </a:solidFill>
                <a:latin typeface="Microsoft YaHei"/>
              </a:defRPr>
            </a:pPr>
            <a:r>
              <a:t>API接口全景（20+端点）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API Endpoints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270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2E8B57"/>
                </a:solidFill>
                <a:latin typeface="Microsoft YaHei"/>
              </a:defRPr>
            </a:pPr>
            <a:r>
              <a:t>商品模块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17320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onsolas"/>
              </a:defRPr>
            </a:pPr>
            <a:r>
              <a:t>/api/categories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417320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分类列表(5分钟缓存)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36776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36776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onsolas"/>
              </a:defRPr>
            </a:pPr>
            <a:r>
              <a:t>/api/products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636776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商品列表(多条件+分页)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856232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856232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onsolas"/>
              </a:defRPr>
            </a:pPr>
            <a:r>
              <a:t>/api/products/:id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856232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商品详情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21284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2E8B57"/>
                </a:solidFill>
                <a:latin typeface="Microsoft YaHei"/>
              </a:defRPr>
            </a:pPr>
            <a:r>
              <a:t>用户模块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487168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487168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onsolas"/>
              </a:defRPr>
            </a:pPr>
            <a:r>
              <a:t>/api/users/wxlogin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487168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微信登录(code→openid)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70662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706624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onsolas"/>
              </a:defRPr>
            </a:pPr>
            <a:r>
              <a:t>/api/users/login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70662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登录/注册(审计日志)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926080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2926080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onsolas"/>
              </a:defRPr>
            </a:pPr>
            <a:r>
              <a:t>/api/users/:openid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2926080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用户详情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282696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2E8B57"/>
                </a:solidFill>
                <a:latin typeface="Microsoft YaHei"/>
              </a:defRPr>
            </a:pPr>
            <a:r>
              <a:t>购物车 &amp; 订单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557016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Consolas"/>
              </a:defRPr>
            </a:pPr>
            <a:r>
              <a:t>GET/POST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557016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onsolas"/>
              </a:defRPr>
            </a:pPr>
            <a:r>
              <a:t>/api/cart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557016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查看/添加购物车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776472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Consolas"/>
              </a:defRPr>
            </a:pPr>
            <a:r>
              <a:t>PUT/DELETE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3776472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onsolas"/>
              </a:defRPr>
            </a:pPr>
            <a:r>
              <a:t>/api/cart/:itemId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776472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修改数量/删除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995928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3995928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onsolas"/>
              </a:defRPr>
            </a:pPr>
            <a:r>
              <a:t>/api/cart/clear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995928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清空购物车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21538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4215384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onsolas"/>
              </a:defRPr>
            </a:pPr>
            <a:r>
              <a:t>/api/orders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421538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订单列表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434840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4434840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onsolas"/>
              </a:defRPr>
            </a:pPr>
            <a:r>
              <a:t>/api/order/create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4434840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创建订单(审计日志)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654296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4654296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onsolas"/>
              </a:defRPr>
            </a:pPr>
            <a:r>
              <a:t>/api/orders/:id/paid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4654296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模拟支付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01091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2E8B57"/>
                </a:solidFill>
                <a:latin typeface="Microsoft YaHei"/>
              </a:defRPr>
            </a:pPr>
            <a:r>
              <a:t>地址 &amp; 天气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285232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285232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onsolas"/>
              </a:defRPr>
            </a:pPr>
            <a:r>
              <a:t>/api/addresses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0" y="5285232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地址列表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504688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600" y="5504688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onsolas"/>
              </a:defRPr>
            </a:pPr>
            <a:r>
              <a:t>/api/address/create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0" y="5504688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创建地址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572414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71600" y="5724144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onsolas"/>
              </a:defRPr>
            </a:pPr>
            <a:r>
              <a:t>/api/weather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0" y="572414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实时天气(30分钟缓存)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5943600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71600" y="5943600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onsolas"/>
              </a:defRPr>
            </a:pPr>
            <a:r>
              <a:t>/api/weather/forecast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54880" y="5943600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天气预报(1-7天)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6300216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2E8B57"/>
                </a:solidFill>
                <a:latin typeface="Microsoft YaHei"/>
              </a:defRPr>
            </a:pPr>
            <a:r>
              <a:t>紧急联系人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6574536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71600" y="6574536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onsolas"/>
              </a:defRPr>
            </a:pPr>
            <a:r>
              <a:t>/api/emergency-contacts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54880" y="6574536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联系人列表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6793992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71600" y="6793992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onsolas"/>
              </a:defRPr>
            </a:pPr>
            <a:r>
              <a:t>/api/emergency-contacts/create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54880" y="6793992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添加(最多3个)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7013448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Consolas"/>
              </a:defRPr>
            </a:pPr>
            <a:r>
              <a:t>PUT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71600" y="7013448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onsolas"/>
              </a:defRPr>
            </a:pPr>
            <a:r>
              <a:t>/api/emergency-contacts/:id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54880" y="7013448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设为主联系人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723290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Consolas"/>
              </a:defRPr>
            </a:pPr>
            <a:r>
              <a:t>DELETE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71600" y="7232904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onsolas"/>
              </a:defRPr>
            </a:pPr>
            <a:r>
              <a:t>/api/emergency-contacts/:id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54880" y="723290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删除联系人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" y="75895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200"/>
              </a:spcAft>
              <a:defRPr sz="1000" b="1">
                <a:solidFill>
                  <a:srgbClr val="2E8B57"/>
                </a:solidFill>
                <a:latin typeface="Microsoft YaHei"/>
              </a:defRPr>
            </a:pPr>
            <a:r>
              <a:t>健康 &amp; SOS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" y="7863840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371600" y="7863840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onsolas"/>
              </a:defRPr>
            </a:pPr>
            <a:r>
              <a:t>/api/health-records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54880" y="7863840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健康记录列表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8083296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71600" y="8083296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onsolas"/>
              </a:defRPr>
            </a:pPr>
            <a:r>
              <a:t>/api/health-records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54880" y="8083296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添加健康记录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" y="8302752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1">
                <a:solidFill>
                  <a:srgbClr val="1A6B3C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71600" y="8302752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onsolas"/>
              </a:defRPr>
            </a:pPr>
            <a:r>
              <a:t>/api/sos/alert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54880" y="8302752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触发SOS求助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48640" y="5943600"/>
            <a:ext cx="11064240" cy="54864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85800" y="6035040"/>
            <a:ext cx="10789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统一响应格式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5800" y="6327648"/>
            <a:ext cx="10789920" cy="731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成功：{"code": 0, "data": ...}  |  失败：{"code": 1, "error": "..."}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00"/>
              </a:lnSpc>
              <a:spcAft>
                <a:spcPts val="200"/>
              </a:spcAft>
              <a:defRPr sz="2600" b="1">
                <a:solidFill>
                  <a:srgbClr val="14522F"/>
                </a:solidFill>
                <a:latin typeface="Microsoft YaHei"/>
              </a:defRPr>
            </a:pPr>
            <a:r>
              <a:t>天气API多级Fallback机制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Weather Fallback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270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383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300"/>
              </a:lnSpc>
              <a:spcAft>
                <a:spcPts val="200"/>
              </a:spcAft>
              <a:defRPr sz="2800" b="0">
                <a:solidFill>
                  <a:srgbClr val="2D2D2D"/>
                </a:solidFill>
                <a:latin typeface="Microsoft YaHei"/>
              </a:defRPr>
            </a:pPr>
            <a:r>
              <a:t>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1A6B3C"/>
                </a:solidFill>
                <a:latin typeface="Microsoft YaHei"/>
              </a:defRPr>
            </a:pPr>
            <a:r>
              <a:t>Open-Meteo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2834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免费全球天气API</a:t>
            </a:r>
            <a:br/>
            <a:r>
              <a:t>无需API Key</a:t>
            </a:r>
            <a:br/>
            <a:r>
              <a:t>经纬度查询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3200400"/>
            <a:ext cx="1737360" cy="292608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200400"/>
            <a:ext cx="1737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1">
                <a:solidFill>
                  <a:srgbClr val="2E8B57"/>
                </a:solidFill>
                <a:latin typeface="Microsoft YaHei"/>
              </a:defRPr>
            </a:pPr>
            <a:r>
              <a:t>主数据源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286000"/>
            <a:ext cx="320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00"/>
              </a:lnSpc>
              <a:spcAft>
                <a:spcPts val="200"/>
              </a:spcAft>
              <a:defRPr sz="1600" b="0">
                <a:solidFill>
                  <a:srgbClr val="9CA3AF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28016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9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417320"/>
            <a:ext cx="3383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300"/>
              </a:lnSpc>
              <a:spcAft>
                <a:spcPts val="200"/>
              </a:spcAft>
              <a:defRPr sz="2800" b="0">
                <a:solidFill>
                  <a:srgbClr val="2D2D2D"/>
                </a:solidFill>
                <a:latin typeface="Microsoft YaHei"/>
              </a:defRPr>
            </a:pPr>
            <a:r>
              <a:t>🗺️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01168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1A6B3C"/>
                </a:solidFill>
                <a:latin typeface="Microsoft YaHei"/>
              </a:defRPr>
            </a:pPr>
            <a:r>
              <a:t>高德天气API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423160"/>
            <a:ext cx="2834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城市编码查询</a:t>
            </a:r>
            <a:br/>
            <a:r>
              <a:t>需AMAP_KEY</a:t>
            </a:r>
            <a:br/>
            <a:r>
              <a:t>restapi.amap.com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3200400"/>
            <a:ext cx="1737360" cy="292608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3200400"/>
            <a:ext cx="1737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1">
                <a:solidFill>
                  <a:srgbClr val="C8953A"/>
                </a:solidFill>
                <a:latin typeface="Microsoft YaHei"/>
              </a:defRPr>
            </a:pPr>
            <a:r>
              <a:t>备选1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2286000"/>
            <a:ext cx="320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00"/>
              </a:lnSpc>
              <a:spcAft>
                <a:spcPts val="200"/>
              </a:spcAft>
              <a:defRPr sz="1600" b="0">
                <a:solidFill>
                  <a:srgbClr val="9CA3AF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28016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417320"/>
            <a:ext cx="3383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300"/>
              </a:lnSpc>
              <a:spcAft>
                <a:spcPts val="200"/>
              </a:spcAft>
              <a:defRPr sz="2800" b="0">
                <a:solidFill>
                  <a:srgbClr val="2D2D2D"/>
                </a:solidFill>
                <a:latin typeface="Microsoft YaHei"/>
              </a:defRPr>
            </a:pPr>
            <a:r>
              <a:t>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01168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1A6B3C"/>
                </a:solidFill>
                <a:latin typeface="Microsoft YaHei"/>
              </a:defRPr>
            </a:pPr>
            <a:r>
              <a:t>本地Fallback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423160"/>
            <a:ext cx="2834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静态数据兜底</a:t>
            </a:r>
            <a:br/>
            <a:r>
              <a:t>多云 22°C 65%</a:t>
            </a:r>
            <a:br/>
            <a:r>
              <a:t>南风2级 桂林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3200400"/>
            <a:ext cx="1737360" cy="292608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3200400"/>
            <a:ext cx="1737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Aft>
                <a:spcPts val="200"/>
              </a:spcAft>
              <a:defRPr sz="900" b="1">
                <a:solidFill>
                  <a:srgbClr val="EF5350"/>
                </a:solidFill>
                <a:latin typeface="Microsoft YaHei"/>
              </a:defRPr>
            </a:pPr>
            <a:r>
              <a:t>兜底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404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1A6B3C"/>
                </a:solidFill>
                <a:latin typeface="Microsoft YaHei"/>
              </a:defRPr>
            </a:pPr>
            <a:r>
              <a:t>天气缓存策略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20624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⏱️ 实时天气：30分钟缓存TTL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48056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⏱️ 天气预报：同样30分钟缓存，支持1-7天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75488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🌐 天气编码映射：Open-Meteo WMO Code → 中文天气描述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02920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🧭 风向转换：角度度数 → 中文风向(北/东北/东...)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00"/>
              </a:lnSpc>
              <a:spcAft>
                <a:spcPts val="200"/>
              </a:spcAft>
              <a:defRPr sz="2600" b="1">
                <a:solidFill>
                  <a:srgbClr val="14522F"/>
                </a:solidFill>
                <a:latin typeface="Microsoft YaHei"/>
              </a:defRPr>
            </a:pPr>
            <a:r>
              <a:t>组件化与工具模块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Components &amp; Utilities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270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1A6B3C"/>
                </a:solidFill>
                <a:latin typeface="Microsoft YaHei"/>
              </a:defRPr>
            </a:pPr>
            <a:r>
              <a:t>4个可复用组件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029200" cy="54864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🖼️ banner-view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29968"/>
            <a:ext cx="4754880" cy="731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轮播图组件，支持自动播放、指示器、错误兜底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5029200" cy="54864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⏳ loading-view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70048"/>
            <a:ext cx="4754880" cy="731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加载中组件，带旋转动画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26080"/>
            <a:ext cx="5029200" cy="54864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1752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❌ error-view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10128"/>
            <a:ext cx="4754880" cy="731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错误状态组件，带重新加载按钮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66160"/>
            <a:ext cx="5029200" cy="54864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5760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📭 empty-view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50208"/>
            <a:ext cx="4754880" cy="731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空状态组件，带友好提示信息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06240"/>
            <a:ext cx="5029200" cy="54864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9768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📊 custom-tab-bar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90288"/>
            <a:ext cx="4754880" cy="731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4个Tab：首页/景点导览/安全防护/个人中心，支持暗黑模式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2344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1A6B3C"/>
                </a:solidFill>
                <a:latin typeface="Microsoft YaHei"/>
              </a:defRPr>
            </a:pPr>
            <a:r>
              <a:t>6个工具模块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645920"/>
            <a:ext cx="5029200" cy="54864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73736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📡 api.js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029968"/>
            <a:ext cx="4754880" cy="731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统一请求封装：loading计数、超时(8s)、401弹窗、17个API函数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286000"/>
            <a:ext cx="5029200" cy="54864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37744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🔊 voice.js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670048"/>
            <a:ext cx="4754880" cy="731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TTS引擎：WechatSI(主)→有道(备)→静默降级，4语种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926080"/>
            <a:ext cx="5029200" cy="54864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301752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🌤️ weather.js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310128"/>
            <a:ext cx="4754880" cy="731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天气工具：图标映射、路滑评估(3级)、suitable/avoid列表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566160"/>
            <a:ext cx="5029200" cy="54864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65760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🧭 navigate.js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950208"/>
            <a:ext cx="4754880" cy="731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导航工具：go/switchTab/goBack，600ms语音延迟后跳转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206240"/>
            <a:ext cx="5029200" cy="54864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429768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📐 page-base.js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4590288"/>
            <a:ext cx="4754880" cy="731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页面基类：状态机、字体同步、防重复加载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846320"/>
            <a:ext cx="5029200" cy="54864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493776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🖼️ image-paths.js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5230368"/>
            <a:ext cx="4754880" cy="731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图片路径集中管理：景点/美食/模块/轮播/TabBar/兜底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00"/>
              </a:lnSpc>
              <a:spcAft>
                <a:spcPts val="200"/>
              </a:spcAft>
              <a:defRPr sz="2600" b="1">
                <a:solidFill>
                  <a:srgbClr val="14522F"/>
                </a:solidFill>
                <a:latin typeface="Microsoft YaHei"/>
              </a:defRPr>
            </a:pPr>
            <a:r>
              <a:t>Web管理后台（Vue 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Vue Admin Panel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270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1A6B3C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029200" cy="73152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Vue 3 + TypeScript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29968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Composition API + &lt;script setup&gt;语法，Vite快速HMR开发体验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029200" cy="73152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5176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Pinia 状态管理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44368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auth store（openid/nickname/isLoggedIn）+ cart store + order store，localStorage持久化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74720"/>
            <a:ext cx="5029200" cy="73152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6616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Vue Router 路由守卫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58768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beforeEach检查requiresAuth，未登录重定向到/user页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2344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1A6B3C"/>
                </a:solidFill>
                <a:latin typeface="Microsoft YaHei"/>
              </a:defRPr>
            </a:pPr>
            <a:r>
              <a:t>10个管理页面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459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首页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16459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Consolas"/>
              </a:defRPr>
            </a:pPr>
            <a:r>
              <a:t>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164592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031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分类浏览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21031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Consolas"/>
              </a:defRPr>
            </a:pPr>
            <a:r>
              <a:t>/category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10312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5603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商品列表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25603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Consolas"/>
              </a:defRPr>
            </a:pPr>
            <a:r>
              <a:t>/list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256032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0175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商品详情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0175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Consolas"/>
              </a:defRPr>
            </a:pPr>
            <a:r>
              <a:t>/details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01752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4747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搜索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34747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Consolas"/>
              </a:defRPr>
            </a:pPr>
            <a:r>
              <a:t>/search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47472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16459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地图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16459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Consolas"/>
              </a:defRPr>
            </a:pPr>
            <a:r>
              <a:t>/map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164592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21031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用户中心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21031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Consolas"/>
              </a:defRPr>
            </a:pPr>
            <a:r>
              <a:t>/user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210312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25603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购物车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25603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Consolas"/>
              </a:defRPr>
            </a:pPr>
            <a:r>
              <a:t>/cart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256032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EF5350"/>
                </a:solidFill>
                <a:latin typeface="Microsoft YaHei"/>
              </a:defRPr>
            </a:pPr>
            <a:r>
              <a:t>是 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30175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订单列表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30175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Consolas"/>
              </a:defRPr>
            </a:pPr>
            <a:r>
              <a:t>/orders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301752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EF5350"/>
                </a:solidFill>
                <a:latin typeface="Microsoft YaHei"/>
              </a:defRPr>
            </a:pPr>
            <a:r>
              <a:t>是 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34747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地址管理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34747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Consolas"/>
              </a:defRPr>
            </a:pPr>
            <a:r>
              <a:t>/address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347472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EF5350"/>
                </a:solidFill>
                <a:latin typeface="Microsoft YaHei"/>
              </a:defRPr>
            </a:pPr>
            <a:r>
              <a:t>是 🔒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00"/>
              </a:lnSpc>
              <a:spcAft>
                <a:spcPts val="200"/>
              </a:spcAft>
              <a:defRPr sz="2600" b="1">
                <a:solidFill>
                  <a:srgbClr val="14522F"/>
                </a:solidFill>
                <a:latin typeface="Microsoft YaHei"/>
              </a:defRPr>
            </a:pPr>
            <a:r>
              <a:t>部署架构与运维策略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Deployment &amp; DevOps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270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1A6B3C"/>
                </a:solidFill>
                <a:latin typeface="Microsoft YaHei"/>
              </a:defRPr>
            </a:pPr>
            <a:r>
              <a:t>Railway 一键部署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029200" cy="64008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🚀 部署流程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29968"/>
            <a:ext cx="47548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GitHub Push → Railway自动检测 → 读取railway.json → 安装依赖 → 启动服务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95728"/>
            <a:ext cx="5029200" cy="64008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87168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📦 railway.json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79776"/>
            <a:ext cx="47548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build命令(npm install) + start命令(ts-node src/index.ts)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45536"/>
            <a:ext cx="5029200" cy="64008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36976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💾 持久化卷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9584"/>
            <a:ext cx="47548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Mount Path: /app/data → 数据库+备份持久存储，容器重启不丢失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95344"/>
            <a:ext cx="5029200" cy="64008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86784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🔧 环境变量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79392"/>
            <a:ext cx="47548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PORT、NODE_ENV、WX_APPID、WX_SECRET、AMAP_KEY、ALLOWED_ORIGINS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645152"/>
            <a:ext cx="5029200" cy="64008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36592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🔄 优雅关停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29200"/>
            <a:ext cx="47548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SIGTERM/SIGINT → stopBackupTimer() → process.exit(0)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2344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1A6B3C"/>
                </a:solidFill>
                <a:latin typeface="Microsoft YaHei"/>
              </a:defRPr>
            </a:pPr>
            <a:r>
              <a:t>数据库备份策略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645920"/>
            <a:ext cx="5029200" cy="82296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73736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⏰ 自动备份机制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029968"/>
            <a:ext cx="47548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每小时自动备份 → backups/shop_backup_*.db，保留最近24份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651760"/>
            <a:ext cx="5029200" cy="82296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74320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🔄 灾难恢复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035808"/>
            <a:ext cx="47548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主DB加载失败 → 扫描backups → 按时间倒序尝试恢复 → 全部失败则新建DB并插入示例数据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749039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1A6B3C"/>
                </a:solidFill>
                <a:latin typeface="Microsoft YaHei"/>
              </a:defRPr>
            </a:pPr>
            <a:r>
              <a:t>目录结构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114800"/>
            <a:ext cx="50292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Consolas"/>
              </a:defRPr>
            </a:pPr>
            <a:r>
              <a:t>yinfa/</a:t>
            </a:r>
            <a:br/>
            <a:r>
              <a:t>├── yinfa-ts/          # 微信小程序</a:t>
            </a:r>
            <a:br/>
            <a:r>
              <a:t>│   ├── pages/         # 18页面</a:t>
            </a:r>
            <a:br/>
            <a:r>
              <a:t>│   ├── components/    # 4组件</a:t>
            </a:r>
            <a:br/>
            <a:r>
              <a:t>│   ├── utils/         # 6工具</a:t>
            </a:r>
            <a:br/>
            <a:r>
              <a:t>│   ├── frontend/      # Vue 3</a:t>
            </a:r>
            <a:br/>
            <a:r>
              <a:t>│   ├── backend/server/# Express</a:t>
            </a:r>
            <a:br/>
            <a:r>
              <a:t>│   └── image/         # 图片</a:t>
            </a:r>
            <a:br/>
            <a:r>
              <a:t>├── data/              # 数据(运行时)</a:t>
            </a:r>
            <a:br/>
            <a:r>
              <a:t>├── railway.json</a:t>
            </a:r>
            <a:br/>
            <a:r>
              <a:t>└── Procfile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00"/>
              </a:lnSpc>
              <a:spcAft>
                <a:spcPts val="200"/>
              </a:spcAft>
              <a:defRPr sz="2600" b="1">
                <a:solidFill>
                  <a:srgbClr val="14522F"/>
                </a:solidFill>
                <a:latin typeface="Microsoft YaHei"/>
              </a:defRPr>
            </a:pPr>
            <a:r>
              <a:t>全局状态管理 &amp; CSS变量系统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State &amp; Variables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270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1A6B3C"/>
                </a:solidFill>
                <a:latin typeface="Microsoft YaHei"/>
              </a:defRPr>
            </a:pPr>
            <a:r>
              <a:t>globalData 全局状态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Consolas"/>
              </a:defRPr>
            </a:pPr>
            <a:r>
              <a:t>userInfo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6459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Consolas"/>
              </a:defRPr>
            </a:pPr>
            <a:r>
              <a:t>Object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6459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用户信息(openid/nickname/avatar/phone)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Consolas"/>
              </a:defRPr>
            </a:pPr>
            <a:r>
              <a:t>voiceEnabled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01168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Consolas"/>
              </a:defRPr>
            </a:pPr>
            <a:r>
              <a:t>Boolean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0116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语音开关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Consolas"/>
              </a:defRPr>
            </a:pPr>
            <a:r>
              <a:t>currentLang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3774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Consolas"/>
              </a:defRPr>
            </a:pPr>
            <a:r>
              <a:t>String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3774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当前语言(zh/en/ja/ko)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432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Consolas"/>
              </a:defRPr>
            </a:pPr>
            <a:r>
              <a:t>fontSizeMode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7432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Consolas"/>
              </a:defRPr>
            </a:pPr>
            <a:r>
              <a:t>String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7432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字体模式(normal/large/huge)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1089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Consolas"/>
              </a:defRPr>
            </a:pPr>
            <a:r>
              <a:t>cachedCategories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10896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Consolas"/>
              </a:defRPr>
            </a:pPr>
            <a:r>
              <a:t>Array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1089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分类数据缓存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Consolas"/>
              </a:defRPr>
            </a:pPr>
            <a:r>
              <a:t>loginChecked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4747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Consolas"/>
              </a:defRPr>
            </a:pPr>
            <a:r>
              <a:t>Boolean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4747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登录状态已检查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02336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状态广播：字体/语言/语音变更 → getCurrentPages() → setData同步 → Storage持久化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2344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1A6B3C"/>
                </a:solidFill>
                <a:latin typeface="Microsoft YaHei"/>
              </a:defRPr>
            </a:pPr>
            <a:r>
              <a:t>CSS变量设计系统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64592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Consolas"/>
              </a:defRPr>
            </a:pPr>
            <a:r>
              <a:t>--font-xs..xxl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164592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1A6B3C"/>
                </a:solidFill>
                <a:latin typeface="Microsoft YaHei"/>
              </a:defRPr>
            </a:pPr>
            <a:r>
              <a:t>24~52rpx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164592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字号体系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05740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Consolas"/>
              </a:defRPr>
            </a:pPr>
            <a:r>
              <a:t>--primary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05740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1A6B3C"/>
                </a:solidFill>
                <a:latin typeface="Microsoft YaHei"/>
              </a:defRPr>
            </a:pPr>
            <a:r>
              <a:t>#2E8B57 海绿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205740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主色调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46888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Consolas"/>
              </a:defRPr>
            </a:pPr>
            <a:r>
              <a:t>--accent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46888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1A6B3C"/>
                </a:solidFill>
                <a:latin typeface="Microsoft YaHei"/>
              </a:defRPr>
            </a:pPr>
            <a:r>
              <a:t>#FF6B35 珊瑚橙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246888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强调色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88036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Consolas"/>
              </a:defRPr>
            </a:pPr>
            <a:r>
              <a:t>--sos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28803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1A6B3C"/>
                </a:solidFill>
                <a:latin typeface="Microsoft YaHei"/>
              </a:defRPr>
            </a:pPr>
            <a:r>
              <a:t>#EF5350 警示红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288036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SOS色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29184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Consolas"/>
              </a:defRPr>
            </a:pPr>
            <a:r>
              <a:t>--gold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29184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1A6B3C"/>
                </a:solidFill>
                <a:latin typeface="Microsoft YaHei"/>
              </a:defRPr>
            </a:pPr>
            <a:r>
              <a:t>#FFD700 金色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329184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金牌色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370332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Consolas"/>
              </a:defRPr>
            </a:pPr>
            <a:r>
              <a:t>--radius-sm/md/lg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370332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1A6B3C"/>
                </a:solidFill>
                <a:latin typeface="Microsoft YaHei"/>
              </a:defRPr>
            </a:pPr>
            <a:r>
              <a:t>8/12/16rpx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370332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圆角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4206240"/>
            <a:ext cx="5029200" cy="91440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429768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1A6B3C"/>
                </a:solidFill>
                <a:latin typeface="Microsoft YaHei"/>
              </a:defRPr>
            </a:pPr>
            <a:r>
              <a:t>关键设计决策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4590288"/>
            <a:ext cx="475488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Aft>
                <a:spcPts val="200"/>
              </a:spcAft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所有CSS变量均配备硬值fallback：</a:t>
            </a:r>
            <a:br/>
            <a:r>
              <a:t>font-size: var(--font-md, 32rpx)</a:t>
            </a:r>
            <a:br/>
            <a:r>
              <a:t>兼容不支持CSS变量的老旧设备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00"/>
              </a:lnSpc>
              <a:spcAft>
                <a:spcPts val="200"/>
              </a:spcAft>
              <a:defRPr sz="2600" b="1">
                <a:solidFill>
                  <a:srgbClr val="14522F"/>
                </a:solidFill>
                <a:latin typeface="Microsoft YaHei"/>
              </a:defRPr>
            </a:pPr>
            <a:r>
              <a:t>技术亮点与创新总结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Aft>
                <a:spcPts val="200"/>
              </a:spcAft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270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520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17319"/>
            <a:ext cx="411480" cy="411480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435607"/>
            <a:ext cx="374904" cy="3749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38528"/>
            <a:ext cx="3246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CSS变量系统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统一设计Token，硬值fallback兼容老旧设备，完整字号体系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80160"/>
            <a:ext cx="3520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26280" y="1417319"/>
            <a:ext cx="411480" cy="411480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435607"/>
            <a:ext cx="374904" cy="3749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38528"/>
            <a:ext cx="3246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组件模块化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86000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4个通用组件，统一加载/错误/空状态处理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280160"/>
            <a:ext cx="3520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6760" y="1417319"/>
            <a:ext cx="411480" cy="411480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435607"/>
            <a:ext cx="374904" cy="3749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938528"/>
            <a:ext cx="3246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Fallback-First渲染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286000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地图先展示本地marker，API失败兜底，杜绝白屏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108960"/>
            <a:ext cx="3520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246120"/>
            <a:ext cx="411480" cy="411480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3264408"/>
            <a:ext cx="374904" cy="3749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767328"/>
            <a:ext cx="3246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状态广播机制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14800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字体/语言/语音 → 遍历所有页面 → setData同步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108960"/>
            <a:ext cx="3520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26280" y="3246120"/>
            <a:ext cx="411480" cy="411480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44568" y="3264408"/>
            <a:ext cx="374904" cy="3749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🛡️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767328"/>
            <a:ext cx="3246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多层安全防护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114800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Helmet+CORS+RateLimit+Zod+审计日志+SQL参数化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3108960"/>
            <a:ext cx="3520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66760" y="3246120"/>
            <a:ext cx="411480" cy="411480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3264408"/>
            <a:ext cx="374904" cy="3749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3767328"/>
            <a:ext cx="3246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数据持久化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114800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SQL.js+每小时备份24份+灾难恢复+持久化卷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937760"/>
            <a:ext cx="3520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85800" y="5074920"/>
            <a:ext cx="411480" cy="411480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093208"/>
            <a:ext cx="374904" cy="3749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596128"/>
            <a:ext cx="3246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多级API Fallback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943600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天气:Open-Meteo→高德→本地 | TTS:WechatSI→有道→静默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9120" y="4937760"/>
            <a:ext cx="3520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526280" y="5074920"/>
            <a:ext cx="411480" cy="411480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44568" y="5093208"/>
            <a:ext cx="374904" cy="3749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6280" y="5596128"/>
            <a:ext cx="3246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银发友好设计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5943600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三档字体+全程语音(4语种)+老人友好评分+6级安全提示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0" y="4937760"/>
            <a:ext cx="3520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366760" y="5074920"/>
            <a:ext cx="411480" cy="411480"/>
          </a:xfrm>
          <a:prstGeom prst="round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85048" y="5093208"/>
            <a:ext cx="374904" cy="37490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5596128"/>
            <a:ext cx="3246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Aft>
                <a:spcPts val="200"/>
              </a:spcAft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状态机驱动UI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5943600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loading→error→empty→data，page-base.js标准化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B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solidFill>
            <a:srgbClr val="145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09728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800"/>
              </a:lnSpc>
              <a:spcAft>
                <a:spcPts val="200"/>
              </a:spcAft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12191695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20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桂林银发旅游小程序 v1.0.0</a:t>
            </a:r>
            <a:br/>
            <a:br/>
            <a:r>
              <a:t>18个页面 · 9张数据库表 · 20+ API接口</a:t>
            </a:r>
            <a:br/>
            <a:r>
              <a:t>4层安全防护 · 三重数据备份 · 多级Fallback机制</a:t>
            </a:r>
            <a:br/>
            <a:br/>
            <a:r>
              <a:t>专为银发群体打造的桂林智慧导览与文旅电商平台</a:t>
            </a:r>
            <a:br/>
            <a:r>
              <a:t>让每一位长者都能安心、便捷地畅游桂林山水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5303520"/>
            <a:ext cx="1188720" cy="365760"/>
          </a:xfrm>
          <a:prstGeom prst="roundRect">
            <a:avLst/>
          </a:prstGeom>
          <a:noFill/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530352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微信小程序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5303520"/>
            <a:ext cx="1188720" cy="365760"/>
          </a:xfrm>
          <a:prstGeom prst="roundRect">
            <a:avLst/>
          </a:prstGeom>
          <a:noFill/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530352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Vue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5303520"/>
            <a:ext cx="1188720" cy="365760"/>
          </a:xfrm>
          <a:prstGeom prst="roundRect">
            <a:avLst/>
          </a:prstGeom>
          <a:noFill/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530352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Express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5303520"/>
            <a:ext cx="1188720" cy="365760"/>
          </a:xfrm>
          <a:prstGeom prst="roundRect">
            <a:avLst/>
          </a:prstGeom>
          <a:noFill/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530352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TypeScript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5303520"/>
            <a:ext cx="1188720" cy="365760"/>
          </a:xfrm>
          <a:prstGeom prst="roundRect">
            <a:avLst/>
          </a:prstGeom>
          <a:noFill/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530352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SQL.js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5303520"/>
            <a:ext cx="1188720" cy="365760"/>
          </a:xfrm>
          <a:prstGeom prst="roundRect">
            <a:avLst/>
          </a:prstGeom>
          <a:noFill/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530352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Railway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2026年5月 · 桂林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