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0"/>
            <a:ext cx="115516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B5E20"/>
                </a:solidFill>
              </a:defRPr>
            </a:pPr>
            <a:r>
              <a:t>桂林银发旅游小程序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2103120"/>
            <a:ext cx="115516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2E7D32"/>
                </a:solidFill>
              </a:defRPr>
            </a:pPr>
            <a:r>
              <a:t>专为中老年游客打造的一站式旅游服务平台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2926080"/>
            <a:ext cx="7619695" cy="3810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27151" y="3291840"/>
            <a:ext cx="2103120" cy="1371600"/>
          </a:xfrm>
          <a:prstGeom prst="rect">
            <a:avLst/>
          </a:prstGeom>
          <a:solidFill>
            <a:srgbClr val="C8E6C9"/>
          </a:solidFill>
          <a:ln w="635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7151" y="33832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B5E20"/>
                </a:solidFill>
              </a:defRPr>
            </a:pPr>
            <a:r>
              <a:t>🗺️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7151" y="37947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B5E20"/>
                </a:solidFill>
              </a:defRPr>
            </a:pPr>
            <a:r>
              <a:t>景点门票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7151" y="40690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1A1A"/>
                </a:solidFill>
              </a:defRPr>
            </a:pPr>
            <a:r>
              <a:t>覆盖桂林/漓江</a:t>
            </a:r>
            <a:br/>
            <a:r>
              <a:t>知名景点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85719" y="3291840"/>
            <a:ext cx="2103120" cy="1371600"/>
          </a:xfrm>
          <a:prstGeom prst="rect">
            <a:avLst/>
          </a:prstGeom>
          <a:solidFill>
            <a:srgbClr val="C8E6C9"/>
          </a:solidFill>
          <a:ln w="635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85719" y="33832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B5E20"/>
                </a:solidFill>
              </a:defRPr>
            </a:pPr>
            <a:r>
              <a:t>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5719" y="37947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B5E20"/>
                </a:solidFill>
              </a:defRPr>
            </a:pPr>
            <a:r>
              <a:t>酒店预订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5719" y="40690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1A1A"/>
                </a:solidFill>
              </a:defRPr>
            </a:pPr>
            <a:r>
              <a:t>精选老年友好</a:t>
            </a:r>
            <a:br/>
            <a:r>
              <a:t>住宿设施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44287" y="3291840"/>
            <a:ext cx="2103120" cy="1371600"/>
          </a:xfrm>
          <a:prstGeom prst="rect">
            <a:avLst/>
          </a:prstGeom>
          <a:solidFill>
            <a:srgbClr val="C8E6C9"/>
          </a:solidFill>
          <a:ln w="635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44287" y="33832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B5E20"/>
                </a:solidFill>
              </a:defRPr>
            </a:pPr>
            <a:r>
              <a:t>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4287" y="37947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B5E20"/>
                </a:solidFill>
              </a:defRPr>
            </a:pPr>
            <a:r>
              <a:t>旅游团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44287" y="40690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1A1A"/>
                </a:solidFill>
              </a:defRPr>
            </a:pPr>
            <a:r>
              <a:t>专属银发团</a:t>
            </a:r>
            <a:br/>
            <a:r>
              <a:t>安全有保障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02855" y="3291840"/>
            <a:ext cx="2103120" cy="1371600"/>
          </a:xfrm>
          <a:prstGeom prst="rect">
            <a:avLst/>
          </a:prstGeom>
          <a:solidFill>
            <a:srgbClr val="C8E6C9"/>
          </a:solidFill>
          <a:ln w="635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02855" y="33832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B5E20"/>
                </a:solidFill>
              </a:defRPr>
            </a:pPr>
            <a:r>
              <a:t>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02855" y="37947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B5E20"/>
                </a:solidFill>
              </a:defRPr>
            </a:pPr>
            <a:r>
              <a:t>AI助手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02855" y="40690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1A1A"/>
                </a:solidFill>
              </a:defRPr>
            </a:pPr>
            <a:r>
              <a:t>智能规划</a:t>
            </a:r>
            <a:br/>
            <a:r>
              <a:t>语音交互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61423" y="3291840"/>
            <a:ext cx="2103120" cy="1371600"/>
          </a:xfrm>
          <a:prstGeom prst="rect">
            <a:avLst/>
          </a:prstGeom>
          <a:solidFill>
            <a:srgbClr val="C8E6C9"/>
          </a:solidFill>
          <a:ln w="635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61423" y="33832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B5E20"/>
                </a:solidFill>
              </a:defRPr>
            </a:pPr>
            <a:r>
              <a:t>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61423" y="37947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B5E20"/>
                </a:solidFill>
              </a:defRPr>
            </a:pPr>
            <a:r>
              <a:t>地图导览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61423" y="40690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1A1A"/>
                </a:solidFill>
              </a:defRPr>
            </a:pPr>
            <a:r>
              <a:t>精准导航</a:t>
            </a:r>
            <a:br/>
            <a:r>
              <a:t>防走失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5029200"/>
            <a:ext cx="115516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A4A4A"/>
                </a:solidFill>
              </a:defRPr>
            </a:pPr>
            <a:r>
              <a:t>技术栈：微信小程序 · Vue 3 Web · Express + TypeScript · SQL.js · Railway部署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5440680"/>
            <a:ext cx="115516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A4A4A"/>
                </a:solidFill>
              </a:defRPr>
            </a:pPr>
            <a:r>
              <a:t>后端接口：https://yinfa-backend.up.railway.app/api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" y="5852160"/>
            <a:ext cx="115516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3A047"/>
                </a:solidFill>
              </a:defRPr>
            </a:pPr>
            <a:r>
              <a:t>微信小程序 × AI智能导览 × 漓江旅游知识服务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6601968"/>
            <a:ext cx="1155161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4A4A4A"/>
                </a:solidFill>
              </a:defRPr>
            </a:pPr>
            <a:r>
              <a:t>桂林银发旅游小程序 · 银发友好 × AI赋能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0"/>
            <a:ext cx="1155161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858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目 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601968"/>
            <a:ext cx="1155161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4A4A4A"/>
                </a:solidFill>
              </a:defRPr>
            </a:pPr>
            <a:r>
              <a:t>桂林银发旅游小程序 | 深度优化版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80160"/>
            <a:ext cx="5824567" cy="1097280"/>
          </a:xfrm>
          <a:prstGeom prst="rect">
            <a:avLst/>
          </a:prstGeom>
          <a:solidFill>
            <a:srgbClr val="E8F5E9"/>
          </a:solidFill>
          <a:ln w="635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371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D32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691640"/>
            <a:ext cx="564168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5E20"/>
                </a:solidFill>
              </a:defRPr>
            </a:pPr>
            <a:r>
              <a:t>项目概述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011680"/>
            <a:ext cx="564168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4A"/>
                </a:solidFill>
              </a:defRPr>
            </a:pPr>
            <a:r>
              <a:t>小程序定位与核心价值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199" y="1280160"/>
            <a:ext cx="5824567" cy="1097280"/>
          </a:xfrm>
          <a:prstGeom prst="rect">
            <a:avLst/>
          </a:prstGeom>
          <a:solidFill>
            <a:srgbClr val="C8E6C9"/>
          </a:solidFill>
          <a:ln w="635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639" y="1371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D32"/>
                </a:solidFill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639" y="1691640"/>
            <a:ext cx="564168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5E20"/>
                </a:solidFill>
              </a:defRPr>
            </a:pPr>
            <a:r>
              <a:t>技术架构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639" y="2011680"/>
            <a:ext cx="564168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4A"/>
                </a:solidFill>
              </a:defRPr>
            </a:pPr>
            <a:r>
              <a:t>前后端技术栈全貌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298359" y="1280160"/>
            <a:ext cx="5824567" cy="1097280"/>
          </a:xfrm>
          <a:prstGeom prst="rect">
            <a:avLst/>
          </a:prstGeom>
          <a:solidFill>
            <a:srgbClr val="E8F5E9"/>
          </a:solidFill>
          <a:ln w="635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89799" y="1371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D32"/>
                </a:solidFill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89799" y="1691640"/>
            <a:ext cx="564168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5E20"/>
                </a:solidFill>
              </a:defRPr>
            </a:pPr>
            <a:r>
              <a:t>核心功能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89799" y="2011680"/>
            <a:ext cx="564168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4A"/>
                </a:solidFill>
              </a:defRPr>
            </a:pPr>
            <a:r>
              <a:t>8大功能模块详解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7519" y="1280160"/>
            <a:ext cx="5824567" cy="1097280"/>
          </a:xfrm>
          <a:prstGeom prst="rect">
            <a:avLst/>
          </a:prstGeom>
          <a:solidFill>
            <a:srgbClr val="C8E6C9"/>
          </a:solidFill>
          <a:ln w="635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378959" y="1371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D32"/>
                </a:solidFill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378959" y="1691640"/>
            <a:ext cx="564168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5E20"/>
                </a:solidFill>
              </a:defRPr>
            </a:pPr>
            <a:r>
              <a:t>AI助手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378959" y="2011680"/>
            <a:ext cx="564168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4A"/>
                </a:solidFill>
              </a:defRPr>
            </a:pPr>
            <a:r>
              <a:t>智能旅游导览集成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560320"/>
            <a:ext cx="5824567" cy="1097280"/>
          </a:xfrm>
          <a:prstGeom prst="rect">
            <a:avLst/>
          </a:prstGeom>
          <a:solidFill>
            <a:srgbClr val="E8F5E9"/>
          </a:solidFill>
          <a:ln w="635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26517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D32"/>
                </a:solidFill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2971800"/>
            <a:ext cx="564168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5E20"/>
                </a:solidFill>
              </a:defRPr>
            </a:pPr>
            <a:r>
              <a:t>数据库设计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3291840"/>
            <a:ext cx="564168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4A"/>
                </a:solidFill>
              </a:defRPr>
            </a:pPr>
            <a:r>
              <a:t>SQL.js + PostgreSQL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199" y="2560320"/>
            <a:ext cx="5824567" cy="1097280"/>
          </a:xfrm>
          <a:prstGeom prst="rect">
            <a:avLst/>
          </a:prstGeom>
          <a:solidFill>
            <a:srgbClr val="C8E6C9"/>
          </a:solidFill>
          <a:ln w="635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639" y="26517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D32"/>
                </a:solidFill>
              </a:defRPr>
            </a:pPr>
            <a: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639" y="2971800"/>
            <a:ext cx="564168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5E20"/>
                </a:solidFill>
              </a:defRPr>
            </a:pPr>
            <a:r>
              <a:t>API接口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639" y="3291840"/>
            <a:ext cx="564168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4A"/>
                </a:solidFill>
              </a:defRPr>
            </a:pPr>
            <a:r>
              <a:t>18个接口全解析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2298359" y="2560320"/>
            <a:ext cx="5824567" cy="1097280"/>
          </a:xfrm>
          <a:prstGeom prst="rect">
            <a:avLst/>
          </a:prstGeom>
          <a:solidFill>
            <a:srgbClr val="E8F5E9"/>
          </a:solidFill>
          <a:ln w="635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389799" y="26517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D32"/>
                </a:solidFill>
              </a:defRPr>
            </a:pPr>
            <a: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89799" y="2971800"/>
            <a:ext cx="564168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5E20"/>
                </a:solidFill>
              </a:defRPr>
            </a:pPr>
            <a:r>
              <a:t>部署方案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89799" y="3291840"/>
            <a:ext cx="564168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4A"/>
                </a:solidFill>
              </a:defRPr>
            </a:pPr>
            <a:r>
              <a:t>Railway一键部署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287519" y="2560320"/>
            <a:ext cx="5824567" cy="1097280"/>
          </a:xfrm>
          <a:prstGeom prst="rect">
            <a:avLst/>
          </a:prstGeom>
          <a:solidFill>
            <a:srgbClr val="C8E6C9"/>
          </a:solidFill>
          <a:ln w="635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8378959" y="26517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D32"/>
                </a:solidFill>
              </a:defRPr>
            </a:pPr>
            <a:r>
              <a:t>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378959" y="2971800"/>
            <a:ext cx="564168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5E20"/>
                </a:solidFill>
              </a:defRPr>
            </a:pPr>
            <a:r>
              <a:t>未来规划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378959" y="3291840"/>
            <a:ext cx="564168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4A"/>
                </a:solidFill>
              </a:defRPr>
            </a:pPr>
            <a:r>
              <a:t>支付/知识库/扩展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0"/>
            <a:ext cx="1155161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858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01 项目概述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601968"/>
            <a:ext cx="1155161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4A4A4A"/>
                </a:solidFill>
              </a:defRPr>
            </a:pPr>
            <a:r>
              <a:t>桂林银发旅游小程序 | 深度优化版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88720"/>
            <a:ext cx="5303520" cy="5193792"/>
          </a:xfrm>
          <a:prstGeom prst="rect">
            <a:avLst/>
          </a:prstGeom>
          <a:solidFill>
            <a:srgbClr val="E8F5E9"/>
          </a:solidFill>
          <a:ln w="635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5E20"/>
                </a:solidFill>
              </a:defRPr>
            </a:pPr>
            <a:r>
              <a:t>项目定位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1A1A1A"/>
                </a:solidFill>
              </a:defRPr>
            </a:pPr>
            <a:r>
              <a:t>桂林银发旅游小程序，专注为50岁以上中老年游客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1A1A1A"/>
                </a:solidFill>
              </a:defRPr>
            </a:pPr>
            <a:r>
              <a:t>提供桂林、漓江流域的一站式旅游票务与导览服务。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1A1A1A"/>
                </a:solidFill>
              </a:defRPr>
            </a:pP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1A1A1A"/>
                </a:solidFill>
              </a:defRPr>
            </a:pPr>
            <a:r>
              <a:t>核心理念：简单操作、大字界面、安全优先、AI辅助。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1A1A1A"/>
                </a:solidFill>
              </a:defRPr>
            </a:pPr>
            <a:r>
              <a:t>专为银发群体定制字体、配色、交互和内容体验。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17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5E20"/>
                </a:solidFill>
              </a:defRPr>
            </a:pPr>
            <a:r>
              <a:t>项目规模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83280"/>
            <a:ext cx="1143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E7D32"/>
                </a:solidFill>
              </a:defRPr>
            </a:pPr>
            <a:r>
              <a:t>9+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4048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A4A4A"/>
                </a:solidFill>
              </a:defRPr>
            </a:pPr>
            <a:r>
              <a:t>小程序页面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383280"/>
            <a:ext cx="1143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E7D32"/>
                </a:solidFill>
              </a:defRPr>
            </a:pPr>
            <a:r>
              <a:t>18+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384048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A4A4A"/>
                </a:solidFill>
              </a:defRPr>
            </a:pPr>
            <a:r>
              <a:t>API接口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383280"/>
            <a:ext cx="1143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E7D32"/>
                </a:solidFill>
              </a:defRPr>
            </a:pPr>
            <a:r>
              <a:t>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84048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A4A4A"/>
                </a:solidFill>
              </a:defRPr>
            </a:pPr>
            <a:r>
              <a:t>功能模块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3383280"/>
            <a:ext cx="1143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E7D32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6200" y="384048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A4A4A"/>
                </a:solidFill>
              </a:defRPr>
            </a:pPr>
            <a:r>
              <a:t>技术栈层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97880" y="1188720"/>
            <a:ext cx="5943600" cy="51937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5E20"/>
                </a:solidFill>
              </a:defRPr>
            </a:pPr>
            <a:r>
              <a:t>技术架构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1691640"/>
            <a:ext cx="118872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0" y="17373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前端层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1764792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</a:defRPr>
            </a:pPr>
            <a:r>
              <a:t>微信小程序 · Vue 3 Web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2350008"/>
            <a:ext cx="118872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0" y="239572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后端层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242316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</a:defRPr>
            </a:pPr>
            <a:r>
              <a:t>Express.js + TypeScript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3008376"/>
            <a:ext cx="118872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0" y="3054096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数据层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3081528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</a:defRPr>
            </a:pPr>
            <a:r>
              <a:t>SQL.js（内存）+ PostgreSQL（持久化）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3666744"/>
            <a:ext cx="118872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0" y="3712464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AI层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3739896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</a:defRPr>
            </a:pPr>
            <a:r>
              <a:t>lvyou-agi · FastAPI · TF-IDF RAG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5040" y="4325112"/>
            <a:ext cx="118872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35040" y="437083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部署层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4398264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</a:defRPr>
            </a:pPr>
            <a:r>
              <a:t>Railway · Docker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0"/>
            <a:ext cx="1155161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858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02 技术架构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601968"/>
            <a:ext cx="1155161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4A4A4A"/>
                </a:solidFill>
              </a:defRPr>
            </a:pPr>
            <a:r>
              <a:t>桂林银发旅游小程序 | 深度优化版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3728618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280160"/>
            <a:ext cx="372861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🖥️ 前端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783080"/>
            <a:ext cx="3728618" cy="35661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874520"/>
            <a:ext cx="354573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</a:defRPr>
            </a:pPr>
            <a:r>
              <a:t>微信小程序（原生框架）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2331720"/>
            <a:ext cx="354573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4A4A"/>
                </a:solidFill>
              </a:defRPr>
            </a:pPr>
            <a:r>
              <a:t>· pages/（9+页面）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2788920"/>
            <a:ext cx="354573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4A4A"/>
                </a:solidFill>
              </a:defRPr>
            </a:pPr>
            <a:r>
              <a:t>· components/（组件）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3246120"/>
            <a:ext cx="354573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4A4A"/>
                </a:solidFill>
              </a:defRPr>
            </a:pPr>
            <a:r>
              <a:t>· utils/（工具库）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3703320"/>
            <a:ext cx="354573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</a:defRPr>
            </a:pPr>
            <a:r>
              <a:t>Vue 3 Web（建设中50%）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4160520"/>
            <a:ext cx="354573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4A4A"/>
                </a:solidFill>
              </a:defRPr>
            </a:pPr>
            <a:r>
              <a:t>· Vite + TypeScript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" y="4617720"/>
            <a:ext cx="354573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4A4A"/>
                </a:solidFill>
              </a:defRPr>
            </a:pPr>
            <a:r>
              <a:t>· views/（首页/景点/导览）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31538" y="1234440"/>
            <a:ext cx="3728618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31538" y="1280160"/>
            <a:ext cx="372861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⚙️ 后端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31538" y="1783080"/>
            <a:ext cx="3728618" cy="35661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41266" y="1874520"/>
            <a:ext cx="354573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</a:defRPr>
            </a:pPr>
            <a:r>
              <a:t>Express.js + TypeScript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1266" y="2331720"/>
            <a:ext cx="354573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4A4A"/>
                </a:solidFill>
              </a:defRPr>
            </a:pPr>
            <a:r>
              <a:t>· routes/（18个路由）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1266" y="2788920"/>
            <a:ext cx="354573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4A4A"/>
                </a:solidFill>
              </a:defRPr>
            </a:pPr>
            <a:r>
              <a:t>· middleware/（认证/日志）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1266" y="3246120"/>
            <a:ext cx="354573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4A4A"/>
                </a:solidFill>
              </a:defRPr>
            </a:pPr>
            <a:r>
              <a:t>· services/（业务逻辑）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1266" y="3703320"/>
            <a:ext cx="354573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4A4A"/>
                </a:solidFill>
              </a:defRPr>
            </a:pPr>
            <a:r>
              <a:t>· validators/（Zod验证）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1266" y="4160520"/>
            <a:ext cx="354573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4A4A"/>
                </a:solidFill>
              </a:defRPr>
            </a:pPr>
            <a:r>
              <a:t>· logger.ts（Pino日志）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1266" y="4617720"/>
            <a:ext cx="354573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</a:defRPr>
            </a:pPr>
            <a:r>
              <a:t>SQL.js（内存）+ PostgreSQL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43036" y="1234440"/>
            <a:ext cx="3728618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43036" y="1280160"/>
            <a:ext cx="372861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🤖 AI服务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43036" y="1783080"/>
            <a:ext cx="3728618" cy="35661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52764" y="1874520"/>
            <a:ext cx="354573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</a:defRPr>
            </a:pPr>
            <a:r>
              <a:t>lvyou-agi（独立部署）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52764" y="2331720"/>
            <a:ext cx="354573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4A4A"/>
                </a:solidFill>
              </a:defRPr>
            </a:pPr>
            <a:r>
              <a:t>· FastAPI + Python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52764" y="2788920"/>
            <a:ext cx="354573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4A4A"/>
                </a:solidFill>
              </a:defRPr>
            </a:pPr>
            <a:r>
              <a:t>· LijiangCoordinator Agent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52764" y="3246120"/>
            <a:ext cx="354573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4A4A"/>
                </a:solidFill>
              </a:defRPr>
            </a:pPr>
            <a:r>
              <a:t>· RouteAgent + BehaviorAgent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52764" y="3703320"/>
            <a:ext cx="354573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4A4A"/>
                </a:solidFill>
              </a:defRPr>
            </a:pPr>
            <a:r>
              <a:t>· TF-IDF RAG（numpy/scipy）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52764" y="4160520"/>
            <a:ext cx="354573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4A4A"/>
                </a:solidFill>
              </a:defRPr>
            </a:pPr>
            <a:r>
              <a:t>· MiniMax LLM API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52764" y="4617720"/>
            <a:ext cx="354573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4A4A"/>
                </a:solidFill>
              </a:defRPr>
            </a:pPr>
            <a:r>
              <a:t>· ChromaDB（可选）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5440680"/>
            <a:ext cx="11551615" cy="82296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5532120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B5E20"/>
                </a:solidFill>
              </a:defRPr>
            </a:pPr>
            <a:r>
              <a:t>🔗 系统连接：微信小程序 ──HTTP──&gt; Express后端 ──HTTP──&gt; lvyou-agi AI服务 ──MiniMax API──&gt; 游客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5852160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A4A4A"/>
                </a:solidFill>
              </a:defRPr>
            </a:pPr>
            <a:r>
              <a:t>部署地址：yinfa后端 https://yinfa-backend.up.railway.app  |  lvyou-agi https://lvyou-agi.onrender.com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0"/>
            <a:ext cx="1155161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858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03 核心功能 · 商品与订单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601968"/>
            <a:ext cx="1155161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4A4A4A"/>
                </a:solidFill>
              </a:defRPr>
            </a:pPr>
            <a:r>
              <a:t>桂林银发旅游小程序 | 深度优化版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88720"/>
            <a:ext cx="5638647" cy="2103120"/>
          </a:xfrm>
          <a:prstGeom prst="rect">
            <a:avLst/>
          </a:prstGeom>
          <a:solidFill>
            <a:srgbClr val="C8E6C9"/>
          </a:solidFill>
          <a:ln w="635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12801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5E20"/>
                </a:solidFill>
              </a:defRPr>
            </a:pPr>
            <a:r>
              <a:t>🎫 商品分类浏览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61407" y="12801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2E7D32"/>
                </a:solidFill>
              </a:defRPr>
            </a:pPr>
            <a:r>
              <a:t>✅ 已完成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541004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• GET /api/categories —— 获取景点分类列表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01952"/>
            <a:ext cx="541004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• GET /api/products —— 获取商品/景点列表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57984"/>
            <a:ext cx="541004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• 支持分类筛选（category参数）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414016"/>
            <a:ext cx="541004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• 支持关键词搜索（search参数）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70048"/>
            <a:ext cx="541004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• 返回商品图片、价格、库存信息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26080"/>
            <a:ext cx="541004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• 响应结构：{code, data, error}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3007" y="1188720"/>
            <a:ext cx="5638647" cy="2103120"/>
          </a:xfrm>
          <a:prstGeom prst="rect">
            <a:avLst/>
          </a:prstGeom>
          <a:solidFill>
            <a:srgbClr val="C8E6C9"/>
          </a:solidFill>
          <a:ln w="635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2735" y="12801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5E20"/>
                </a:solidFill>
              </a:defRPr>
            </a:pPr>
            <a:r>
              <a:t>📦 商品详情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74375" y="12801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2E7D32"/>
                </a:solidFill>
              </a:defRPr>
            </a:pPr>
            <a:r>
              <a:t>✅ 已完成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0167" y="1645920"/>
            <a:ext cx="541004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• GET /api/products/:id —— 商品详情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0167" y="1901952"/>
            <a:ext cx="541004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• 展示名称、价格、描述、图片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0167" y="2157984"/>
            <a:ext cx="541004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• 支持库存状态实时查询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2414016"/>
            <a:ext cx="541004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• 关联分类信息一并返回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0167" y="2670048"/>
            <a:ext cx="541004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• is_active字段控制上下架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0167" y="2926080"/>
            <a:ext cx="541004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• 详细字段：id/name/price/stock/image_url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474720"/>
            <a:ext cx="5638647" cy="2103120"/>
          </a:xfrm>
          <a:prstGeom prst="rect">
            <a:avLst/>
          </a:prstGeom>
          <a:solidFill>
            <a:srgbClr val="E8F5E9"/>
          </a:solidFill>
          <a:ln w="635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" y="35661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5E20"/>
                </a:solidFill>
              </a:defRPr>
            </a:pPr>
            <a:r>
              <a:t>🛒 购物车管理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61407" y="35661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6F00"/>
                </a:solidFill>
              </a:defRPr>
            </a:pPr>
            <a:r>
              <a:t>🔨 开发中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931920"/>
            <a:ext cx="541004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• GET /api/cart —— 获取购物车列表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187952"/>
            <a:ext cx="541004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• POST /api/cart/add —— 添加商品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443984"/>
            <a:ext cx="541004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• POST /api/cart/update —— 更新数量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700016"/>
            <a:ext cx="541004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• POST /api/cart/remove —— 删除商品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956048"/>
            <a:ext cx="541004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• POST /api/cart/clear —— 清空购物车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212080"/>
            <a:ext cx="541004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• 基于openid识别用户购物车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3007" y="3474720"/>
            <a:ext cx="5638647" cy="2103120"/>
          </a:xfrm>
          <a:prstGeom prst="rect">
            <a:avLst/>
          </a:prstGeom>
          <a:solidFill>
            <a:srgbClr val="E8F5E9"/>
          </a:solidFill>
          <a:ln w="635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42735" y="35661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5E20"/>
                </a:solidFill>
              </a:defRPr>
            </a:pPr>
            <a:r>
              <a:t>📋 订单管理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74375" y="35661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2E7D32"/>
                </a:solidFill>
              </a:defRPr>
            </a:pPr>
            <a:r>
              <a:t>✅ 已完成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70167" y="3931920"/>
            <a:ext cx="541004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• POST /api/order/create —— 创建订单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70167" y="4187952"/>
            <a:ext cx="541004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• GET /api/orders —— 订单列表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70167" y="4443984"/>
            <a:ext cx="541004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• GET /api/orders/:id —— 订单详情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70167" y="4700016"/>
            <a:ext cx="541004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• 自动生成订单号（ORD前缀+时间戳）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70167" y="4956048"/>
            <a:ext cx="541004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• 支持多商品同时下单（items数组）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70167" y="5212080"/>
            <a:ext cx="541004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• 订单状态：pending/paid/shipped/completed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0"/>
            <a:ext cx="1155161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858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03 核心功能 · 用户与AI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601968"/>
            <a:ext cx="1155161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4A4A4A"/>
                </a:solidFill>
              </a:defRPr>
            </a:pPr>
            <a:r>
              <a:t>桂林银发旅游小程序 | 深度优化版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88720"/>
            <a:ext cx="5638647" cy="2103120"/>
          </a:xfrm>
          <a:prstGeom prst="rect">
            <a:avLst/>
          </a:prstGeom>
          <a:solidFill>
            <a:srgbClr val="C8E6C9"/>
          </a:solidFill>
          <a:ln w="635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12801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5E20"/>
                </a:solidFill>
              </a:defRPr>
            </a:pPr>
            <a:r>
              <a:t>👤 用户中心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61407" y="12801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2E7D32"/>
                </a:solidFill>
              </a:defRPr>
            </a:pPr>
            <a:r>
              <a:t>✅ 已完成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541004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• POST /api/users/login —— 微信登录/注册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01952"/>
            <a:ext cx="541004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•   openid/nickname/avatar_url/phone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57984"/>
            <a:ext cx="541004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• GET /api/users/:openid —— 获取用户信息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414016"/>
            <a:ext cx="541004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• 支持手机号快捷登录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70048"/>
            <a:ext cx="541004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• 用户创建时间自动记录（created_at）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26080"/>
            <a:ext cx="541004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• 集成紧急联系人管理（emergency_contacts）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3007" y="1188720"/>
            <a:ext cx="5638647" cy="2103120"/>
          </a:xfrm>
          <a:prstGeom prst="rect">
            <a:avLst/>
          </a:prstGeom>
          <a:solidFill>
            <a:srgbClr val="C8E6C9"/>
          </a:solidFill>
          <a:ln w="635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2735" y="12801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5E20"/>
                </a:solidFill>
              </a:defRPr>
            </a:pPr>
            <a:r>
              <a:t>📍 地址管理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74375" y="12801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2E7D32"/>
                </a:solidFill>
              </a:defRPr>
            </a:pPr>
            <a:r>
              <a:t>✅ 已完成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0167" y="1645920"/>
            <a:ext cx="541004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• POST /api/address/create —— 新增地址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0167" y="1901952"/>
            <a:ext cx="541004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•   支持设置默认地址（is_default）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0167" y="2157984"/>
            <a:ext cx="541004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• GET /api/addresses —— 地址列表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2414016"/>
            <a:ext cx="541004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•   按openid查询用户所有地址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0167" y="2670048"/>
            <a:ext cx="541004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• 字段：full_name/phone/address_line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0167" y="2926080"/>
            <a:ext cx="541004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•   city/postal_code/is_default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474720"/>
            <a:ext cx="5638647" cy="2103120"/>
          </a:xfrm>
          <a:prstGeom prst="rect">
            <a:avLst/>
          </a:prstGeom>
          <a:solidFill>
            <a:srgbClr val="E8F5E9"/>
          </a:solidFill>
          <a:ln w="635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" y="35661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5E20"/>
                </a:solidFill>
              </a:defRPr>
            </a:pPr>
            <a:r>
              <a:t>🤖 AI智能助手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61407" y="35661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2E7D32"/>
                </a:solidFill>
              </a:defRPr>
            </a:pPr>
            <a:r>
              <a:t>✅ 已集成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931920"/>
            <a:ext cx="541004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• 集成lvyou-agi旅游AI知识服务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187952"/>
            <a:ext cx="541004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• Agent路由：Route/Behavior/Knowledge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443984"/>
            <a:ext cx="541004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• 支持SSE流式输出（/api/chat/stream）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700016"/>
            <a:ext cx="541004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• 意图识别 → 路由 → Agent执行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956048"/>
            <a:ext cx="541004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• RAG知识库：桂林漓江景点/美食/交通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212080"/>
            <a:ext cx="541004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• 天气查询：支持桂林/北京/上海/广州等8城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3007" y="3474720"/>
            <a:ext cx="5638647" cy="2103120"/>
          </a:xfrm>
          <a:prstGeom prst="rect">
            <a:avLst/>
          </a:prstGeom>
          <a:solidFill>
            <a:srgbClr val="E8F5E9"/>
          </a:solidFill>
          <a:ln w="635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42735" y="35661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5E20"/>
                </a:solidFill>
              </a:defRPr>
            </a:pPr>
            <a:r>
              <a:t>🗺️ 地图导航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74375" y="35661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2E7D32"/>
                </a:solidFill>
              </a:defRPr>
            </a:pPr>
            <a:r>
              <a:t>✅ 已完成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70167" y="3931920"/>
            <a:ext cx="541004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• 内置地图页面（pages/map）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70167" y="4187952"/>
            <a:ext cx="541004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• 支持景点定位与展示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70167" y="4443984"/>
            <a:ext cx="541004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• 结合AI助手提供智能路线建议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70167" y="4700016"/>
            <a:ext cx="541004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• 可查看周边配套设施（厕所/急救）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70167" y="4956048"/>
            <a:ext cx="541004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• 杨堤码头为重点研究区域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70167" y="5212080"/>
            <a:ext cx="541004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• 与景点详情页深度整合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0"/>
            <a:ext cx="1155161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858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04 AI助手 · lvyou-agi集成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601968"/>
            <a:ext cx="1155161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4A4A4A"/>
                </a:solidFill>
              </a:defRPr>
            </a:pPr>
            <a:r>
              <a:t>桂林银发旅游小程序 | 深度优化版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88720"/>
            <a:ext cx="5486400" cy="519379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5E20"/>
                </a:solidFill>
              </a:defRPr>
            </a:pPr>
            <a:r>
              <a:t>LijiangCoordinator 多意图路由架构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B5E20"/>
                </a:solidFill>
              </a:defRPr>
            </a:pPr>
            <a:r>
              <a:t>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737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</a:defRPr>
            </a:pPr>
            <a:r>
              <a:t>用户输入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4A"/>
                </a:solidFill>
              </a:defRPr>
            </a:pPr>
            <a:r>
              <a:t>小程序AI助手页面输入旅游需求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3172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B5E20"/>
                </a:solidFill>
              </a:defRPr>
            </a:pPr>
            <a:r>
              <a:t>⬇️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31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</a:defRPr>
            </a:pPr>
            <a:r>
              <a:t>意图分析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606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4A"/>
                </a:solidFill>
              </a:defRPr>
            </a:pPr>
            <a:r>
              <a:t>Coordinator分析：单意图/多意图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2608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B5E20"/>
                </a:solidFill>
              </a:defRPr>
            </a:pPr>
            <a:r>
              <a:t>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926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</a:defRPr>
            </a:pPr>
            <a:r>
              <a:t>路由分发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200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4A"/>
                </a:solidFill>
              </a:defRPr>
            </a:pPr>
            <a:r>
              <a:t>单意图→单一Agent | 多意图→三Agent并行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5204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B5E20"/>
                </a:solidFill>
              </a:defRPr>
            </a:pPr>
            <a:r>
              <a:t>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520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</a:defRPr>
            </a:pPr>
            <a:r>
              <a:t>并行执行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794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4A"/>
                </a:solidFill>
              </a:defRPr>
            </a:pPr>
            <a:r>
              <a:t>RouteAgent + BehaviorAgent + KnowledgeAgent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1148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B5E20"/>
                </a:solidFill>
              </a:defRPr>
            </a:pPr>
            <a:r>
              <a:t>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114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</a:defRPr>
            </a:pPr>
            <a:r>
              <a:t>结果综合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389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4A"/>
                </a:solidFill>
              </a:defRPr>
            </a:pPr>
            <a:r>
              <a:t>综合三Agent输出，格式化响应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89320" y="1188720"/>
            <a:ext cx="5943600" cy="51937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128016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5E20"/>
                </a:solidFill>
              </a:defRPr>
            </a:pPr>
            <a:r>
              <a:t>三大专业Agent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1691640"/>
            <a:ext cx="2286000" cy="365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0" y="170992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🗺️ RouteAgent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203911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7D32"/>
                </a:solidFill>
              </a:defRPr>
            </a:pPr>
            <a:r>
              <a:t>职能：旅游路线规划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2286000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· 分析用户时间/预算/人数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2505456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· 漓江竹筏/徒步/自驾路线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2724912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· 生成个性化行程方案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2944368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· 多目标优化（时间/费用/体验）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2834640"/>
            <a:ext cx="2286000" cy="365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80" y="285292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📊 BehaviorAgent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318211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7D32"/>
                </a:solidFill>
              </a:defRPr>
            </a:pPr>
            <a:r>
              <a:t>职能：游客行为预测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72200" y="3429000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· 预测各景点停留时间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72200" y="3648456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· 购买意愿与消费分析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72200" y="3867912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· 客流高峰时段预测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72200" y="4087368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· 最优出发时间建议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26480" y="3977640"/>
            <a:ext cx="2286000" cy="365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0" y="399592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📚 KnowledgeAgent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0" y="432511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7D32"/>
                </a:solidFill>
              </a:defRPr>
            </a:pPr>
            <a:r>
              <a:t>职能：旅游知识问答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72200" y="4572000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· 景点介绍与历史背景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72200" y="4791456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· 票价信息与优惠政策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72200" y="5010912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· 美食推荐与交通指南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72200" y="5230368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· RAG检索桂林漓江知识库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0"/>
            <a:ext cx="1155161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858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05 数据库设计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601968"/>
            <a:ext cx="1155161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4A4A4A"/>
                </a:solidFill>
              </a:defRPr>
            </a:pPr>
            <a:r>
              <a:t>桂林银发旅游小程序 | 深度优化版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88720"/>
            <a:ext cx="1833829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234440"/>
            <a:ext cx="183382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categories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645920"/>
            <a:ext cx="183382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B5E20"/>
                </a:solidFill>
              </a:defRPr>
            </a:pPr>
            <a:r>
              <a:t>景点分类表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920240"/>
            <a:ext cx="1833829" cy="1188720"/>
          </a:xfrm>
          <a:prstGeom prst="rect">
            <a:avLst/>
          </a:prstGeom>
          <a:solidFill>
            <a:srgbClr val="E8F5E9"/>
          </a:solidFill>
          <a:ln w="635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993392"/>
            <a:ext cx="174238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id（主键）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267712"/>
            <a:ext cx="174238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name（名称）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542032"/>
            <a:ext cx="174238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slug（别名）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816352"/>
            <a:ext cx="174238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order（排序）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63597" y="1188720"/>
            <a:ext cx="1833829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63597" y="1234440"/>
            <a:ext cx="183382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products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63597" y="1645920"/>
            <a:ext cx="183382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B5E20"/>
                </a:solidFill>
              </a:defRPr>
            </a:pPr>
            <a:r>
              <a:t>商品/景点表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63597" y="1920240"/>
            <a:ext cx="1833829" cy="2011680"/>
          </a:xfrm>
          <a:prstGeom prst="rect">
            <a:avLst/>
          </a:prstGeom>
          <a:solidFill>
            <a:srgbClr val="E8F5E9"/>
          </a:solidFill>
          <a:ln w="635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09317" y="1993392"/>
            <a:ext cx="174238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id（主键）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09317" y="2267712"/>
            <a:ext cx="174238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name（名称）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9317" y="2542032"/>
            <a:ext cx="174238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description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09317" y="2816352"/>
            <a:ext cx="174238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price（价格）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09317" y="3090672"/>
            <a:ext cx="174238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stock（库存）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09317" y="3364992"/>
            <a:ext cx="174238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image_url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09317" y="3639312"/>
            <a:ext cx="174238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is_active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07154" y="1188720"/>
            <a:ext cx="1833829" cy="45720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7154" y="1234440"/>
            <a:ext cx="183382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user_profiles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7154" y="1645920"/>
            <a:ext cx="183382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B5E20"/>
                </a:solidFill>
              </a:defRPr>
            </a:pPr>
            <a:r>
              <a:t>用户档案表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7154" y="1920240"/>
            <a:ext cx="1833829" cy="1737360"/>
          </a:xfrm>
          <a:prstGeom prst="rect">
            <a:avLst/>
          </a:prstGeom>
          <a:solidFill>
            <a:srgbClr val="E8F5E9"/>
          </a:solidFill>
          <a:ln w="635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52874" y="1993392"/>
            <a:ext cx="174238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id（主键）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52874" y="2267712"/>
            <a:ext cx="174238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openid（微信）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2874" y="2542032"/>
            <a:ext cx="174238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nickname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2874" y="2816352"/>
            <a:ext cx="174238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avatar_url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2874" y="3090672"/>
            <a:ext cx="174238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phone（手机）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52874" y="3364992"/>
            <a:ext cx="174238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created_at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50711" y="1188720"/>
            <a:ext cx="1833829" cy="45720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50711" y="1234440"/>
            <a:ext cx="183382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addresses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50711" y="1645920"/>
            <a:ext cx="183382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B5E20"/>
                </a:solidFill>
              </a:defRPr>
            </a:pPr>
            <a:r>
              <a:t>地址管理表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50711" y="1920240"/>
            <a:ext cx="1833829" cy="2286000"/>
          </a:xfrm>
          <a:prstGeom prst="rect">
            <a:avLst/>
          </a:prstGeom>
          <a:solidFill>
            <a:srgbClr val="E8F5E9"/>
          </a:solidFill>
          <a:ln w="635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96431" y="1993392"/>
            <a:ext cx="174238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id（主键）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96431" y="2267712"/>
            <a:ext cx="174238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openid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96431" y="2542032"/>
            <a:ext cx="174238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full_name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96431" y="2816352"/>
            <a:ext cx="174238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phone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96431" y="3090672"/>
            <a:ext cx="174238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address_line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96431" y="3364992"/>
            <a:ext cx="174238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city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96431" y="3639312"/>
            <a:ext cx="174238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postal_code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96431" y="3913632"/>
            <a:ext cx="174238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is_default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94268" y="1188720"/>
            <a:ext cx="1833829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94268" y="1234440"/>
            <a:ext cx="183382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orders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94268" y="1645920"/>
            <a:ext cx="183382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B5E20"/>
                </a:solidFill>
              </a:defRPr>
            </a:pPr>
            <a:r>
              <a:t>订单主表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94268" y="1920240"/>
            <a:ext cx="1833829" cy="2011680"/>
          </a:xfrm>
          <a:prstGeom prst="rect">
            <a:avLst/>
          </a:prstGeom>
          <a:solidFill>
            <a:srgbClr val="E8F5E9"/>
          </a:solidFill>
          <a:ln w="635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139988" y="1993392"/>
            <a:ext cx="174238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id（主键）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39988" y="2267712"/>
            <a:ext cx="174238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order_no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39988" y="2542032"/>
            <a:ext cx="174238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openid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39988" y="2816352"/>
            <a:ext cx="174238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total_price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39988" y="3090672"/>
            <a:ext cx="174238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status（状态）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39988" y="3364992"/>
            <a:ext cx="174238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created_at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39988" y="3639312"/>
            <a:ext cx="174238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updated_at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037825" y="1188720"/>
            <a:ext cx="1833829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037825" y="1234440"/>
            <a:ext cx="183382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order_items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37825" y="1645920"/>
            <a:ext cx="183382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B5E20"/>
                </a:solidFill>
              </a:defRPr>
            </a:pPr>
            <a:r>
              <a:t>订单明细表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037825" y="1920240"/>
            <a:ext cx="1833829" cy="1737360"/>
          </a:xfrm>
          <a:prstGeom prst="rect">
            <a:avLst/>
          </a:prstGeom>
          <a:solidFill>
            <a:srgbClr val="E8F5E9"/>
          </a:solidFill>
          <a:ln w="635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083545" y="1993392"/>
            <a:ext cx="174238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id（主键）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083545" y="2267712"/>
            <a:ext cx="174238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order_id（外键）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083545" y="2542032"/>
            <a:ext cx="174238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product_id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083545" y="2816352"/>
            <a:ext cx="174238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quantity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083545" y="3090672"/>
            <a:ext cx="174238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unit_price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083545" y="3364992"/>
            <a:ext cx="174238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subtotal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20040" y="4937760"/>
            <a:ext cx="11551615" cy="1005840"/>
          </a:xfrm>
          <a:prstGeom prst="rect">
            <a:avLst/>
          </a:prstGeom>
          <a:solidFill>
            <a:srgbClr val="C8E6C9"/>
          </a:solidFill>
          <a:ln w="635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02920" y="5029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5E20"/>
                </a:solidFill>
              </a:defRPr>
            </a:pPr>
            <a:r>
              <a:t>📊 当前：SQL.js（内存数据库）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02920" y="534924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  支持快速开发、本地运行、数据持久化到 /app/data 目录（Railway持久化卷）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2920" y="55778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5E20"/>
                </a:solidFill>
              </a:defRPr>
            </a:pPr>
            <a:r>
              <a:t>🚀 迁移：PostgreSQL（持久化）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02920" y="58978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  已创建迁移脚本 001_initial_schema.sql，配置 railway.json，依赖 DATABASE_URL 环境变量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0"/>
            <a:ext cx="1155161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858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06 API接口全览（18个接口）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601968"/>
            <a:ext cx="1155161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4A4A4A"/>
                </a:solidFill>
              </a:defRPr>
            </a:pPr>
            <a:r>
              <a:t>桂林银发旅游小程序 | 深度优化版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640080" cy="4114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887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1887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5E20"/>
                </a:solidFill>
              </a:defRPr>
            </a:pPr>
            <a:r>
              <a:t>/health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41732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</a:defRPr>
            </a:pPr>
            <a:r>
              <a:t>健康检查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709928"/>
            <a:ext cx="640080" cy="4114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75564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75564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5E20"/>
                </a:solidFill>
              </a:defRPr>
            </a:pPr>
            <a:r>
              <a:t>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984248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</a:defRPr>
            </a:pPr>
            <a:r>
              <a:t>服务器信息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276856"/>
            <a:ext cx="640080" cy="4114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2322576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322576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5E20"/>
                </a:solidFill>
              </a:defRPr>
            </a:pPr>
            <a:r>
              <a:t>/api/categories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551176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</a:defRPr>
            </a:pPr>
            <a:r>
              <a:t>获取分类列表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843784"/>
            <a:ext cx="640080" cy="4114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2889504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88950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5E20"/>
                </a:solidFill>
              </a:defRPr>
            </a:pPr>
            <a:r>
              <a:t>/api/products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11810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</a:defRPr>
            </a:pPr>
            <a:r>
              <a:t>获取商品列表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410712"/>
            <a:ext cx="640080" cy="4114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34564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345643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5E20"/>
                </a:solidFill>
              </a:defRPr>
            </a:pPr>
            <a:r>
              <a:t>/api/products/:id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68503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</a:defRPr>
            </a:pPr>
            <a:r>
              <a:t>获取商品详情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977640"/>
            <a:ext cx="640080" cy="41148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402336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POST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0233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5E20"/>
                </a:solidFill>
              </a:defRPr>
            </a:pPr>
            <a:r>
              <a:t>/api/users/login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425196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</a:defRPr>
            </a:pPr>
            <a:r>
              <a:t>微信登录注册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16298" y="1143000"/>
            <a:ext cx="640080" cy="4114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16298" y="11887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02098" y="11887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5E20"/>
                </a:solidFill>
              </a:defRPr>
            </a:pPr>
            <a:r>
              <a:t>/api/users/:openid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02098" y="141732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</a:defRPr>
            </a:pPr>
            <a:r>
              <a:t>获取用户信息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16298" y="1709928"/>
            <a:ext cx="640080" cy="41148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16298" y="175564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POST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02098" y="175564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5E20"/>
                </a:solidFill>
              </a:defRPr>
            </a:pPr>
            <a:r>
              <a:t>/api/address/create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02098" y="1984248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</a:defRPr>
            </a:pPr>
            <a:r>
              <a:t>创建地址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16298" y="2276856"/>
            <a:ext cx="640080" cy="4114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16298" y="2322576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GET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02098" y="2322576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5E20"/>
                </a:solidFill>
              </a:defRPr>
            </a:pPr>
            <a:r>
              <a:t>/api/addresses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02098" y="2551176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</a:defRPr>
            </a:pPr>
            <a:r>
              <a:t>获取地址列表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16298" y="2843784"/>
            <a:ext cx="640080" cy="41148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16298" y="2889504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POST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02098" y="288950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5E20"/>
                </a:solidFill>
              </a:defRPr>
            </a:pPr>
            <a:r>
              <a:t>/api/order/create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02098" y="311810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</a:defRPr>
            </a:pPr>
            <a:r>
              <a:t>创建订单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16298" y="3410712"/>
            <a:ext cx="640080" cy="4114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16298" y="34564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GET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02098" y="345643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5E20"/>
                </a:solidFill>
              </a:defRPr>
            </a:pPr>
            <a:r>
              <a:t>/api/orders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902098" y="368503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</a:defRPr>
            </a:pPr>
            <a:r>
              <a:t>获取订单列表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16298" y="3977640"/>
            <a:ext cx="640080" cy="4114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216298" y="402336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GET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902098" y="40233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5E20"/>
                </a:solidFill>
              </a:defRPr>
            </a:pPr>
            <a:r>
              <a:t>/api/orders/:id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02098" y="425196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</a:defRPr>
            </a:pPr>
            <a:r>
              <a:t>获取订单详情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112556" y="1143000"/>
            <a:ext cx="640080" cy="4114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112556" y="11887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GET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98356" y="11887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5E20"/>
                </a:solidFill>
              </a:defRPr>
            </a:pPr>
            <a:r>
              <a:t>/api/weather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798356" y="141732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</a:defRPr>
            </a:pPr>
            <a:r>
              <a:t>天气查询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112556" y="1709928"/>
            <a:ext cx="640080" cy="4114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112556" y="175564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GET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798356" y="175564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5E20"/>
                </a:solidFill>
              </a:defRPr>
            </a:pPr>
            <a:r>
              <a:t>/api/cart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798356" y="1984248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</a:defRPr>
            </a:pPr>
            <a:r>
              <a:t>获取购物车（开发中）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112556" y="2276856"/>
            <a:ext cx="640080" cy="41148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112556" y="2322576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POST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798356" y="2322576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5E20"/>
                </a:solidFill>
              </a:defRPr>
            </a:pPr>
            <a:r>
              <a:t>/api/cart/add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798356" y="2551176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</a:defRPr>
            </a:pPr>
            <a:r>
              <a:t>添加购物车（开发中）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112556" y="2843784"/>
            <a:ext cx="640080" cy="41148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112556" y="2889504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POST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798356" y="288950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5E20"/>
                </a:solidFill>
              </a:defRPr>
            </a:pPr>
            <a:r>
              <a:t>/api/chat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798356" y="311810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</a:defRPr>
            </a:pPr>
            <a:r>
              <a:t>AI对话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112556" y="3410712"/>
            <a:ext cx="640080" cy="41148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112556" y="34564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POST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798356" y="345643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5E20"/>
                </a:solidFill>
              </a:defRPr>
            </a:pPr>
            <a:r>
              <a:t>/api/chat/stream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798356" y="368503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</a:defRPr>
            </a:pPr>
            <a:r>
              <a:t>AI流式对话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112556" y="3977640"/>
            <a:ext cx="640080" cy="4114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112556" y="402336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GET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798356" y="40233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5E20"/>
                </a:solidFill>
              </a:defRPr>
            </a:pPr>
            <a:r>
              <a:t>/api/capabilities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798356" y="425196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</a:defRPr>
            </a:pPr>
            <a:r>
              <a:t>AI能力清单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0"/>
            <a:ext cx="1155161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858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07 部署方案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601968"/>
            <a:ext cx="1155161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4A4A4A"/>
                </a:solidFill>
              </a:defRPr>
            </a:pPr>
            <a:r>
              <a:t>桂林银发旅游小程序 | 深度优化版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88720"/>
            <a:ext cx="5486400" cy="3200400"/>
          </a:xfrm>
          <a:prstGeom prst="rect">
            <a:avLst/>
          </a:prstGeom>
          <a:solidFill>
            <a:srgbClr val="E8F5E9"/>
          </a:solidFill>
          <a:ln w="635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5E20"/>
                </a:solidFill>
              </a:defRPr>
            </a:pPr>
            <a:r>
              <a:t>🚀 Railway 一键部署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</a:defRPr>
            </a:pPr>
            <a:r>
              <a:t>① Fork 本仓库到 GitHub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3911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</a:defRPr>
            </a:pPr>
            <a:r>
              <a:t>② Railway 控制台新建项目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86584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</a:defRPr>
            </a:pPr>
            <a:r>
              <a:t>③ 选择「从 GitHub 部署」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734056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</a:defRPr>
            </a:pPr>
            <a:r>
              <a:t>④ 选择本仓库，Railway 自动读取 railway.json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08152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</a:defRPr>
            </a:pPr>
            <a:r>
              <a:t>⑤ 添加持久化卷，Mount Path：/app/data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4290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</a:defRPr>
            </a:pPr>
            <a:r>
              <a:t>⑥ 配置环境变量（如 MINIMAX_API_KEY 等）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77647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</a:defRPr>
            </a:pPr>
            <a:r>
              <a:t>⑦ 等待构建完成，自动获得 HTTPS 地址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89320" y="1188720"/>
            <a:ext cx="5943600" cy="3200400"/>
          </a:xfrm>
          <a:prstGeom prst="rect">
            <a:avLst/>
          </a:prstGeom>
          <a:solidFill>
            <a:srgbClr val="E8F5E9"/>
          </a:solidFill>
          <a:ln w="635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128016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5E20"/>
                </a:solidFill>
              </a:defRPr>
            </a:pPr>
            <a:r>
              <a:t>🐳 Docker 容器部署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1691640"/>
            <a:ext cx="5669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</a:defRPr>
            </a:pPr>
            <a:r>
              <a:t>① Docker 已安装（docker --version）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020824"/>
            <a:ext cx="5669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</a:defRPr>
            </a:pPr>
            <a:r>
              <a:t>② 项目根目录构建镜像：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350008"/>
            <a:ext cx="5669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4A4A"/>
                </a:solidFill>
              </a:defRPr>
            </a:pPr>
            <a:r>
              <a:t>   docker build -t yinfa-backend 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679192"/>
            <a:ext cx="5669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</a:defRPr>
            </a:pPr>
            <a:r>
              <a:t>③ 运行容器（挂载数据卷）：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3008376"/>
            <a:ext cx="5669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4A4A"/>
                </a:solidFill>
              </a:defRPr>
            </a:pPr>
            <a:r>
              <a:t>   docker run -d -p 8000:8000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3337560"/>
            <a:ext cx="5669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4A4A"/>
                </a:solidFill>
              </a:defRPr>
            </a:pPr>
            <a:r>
              <a:t>   -v yinfa-data:/app/data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3666744"/>
            <a:ext cx="5669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4A4A"/>
                </a:solidFill>
              </a:defRPr>
            </a:pPr>
            <a:r>
              <a:t>   -e PORT=8000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3995928"/>
            <a:ext cx="5669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4A4A"/>
                </a:solidFill>
              </a:defRPr>
            </a:pPr>
            <a:r>
              <a:t>   --name yinfa-backend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4325112"/>
            <a:ext cx="5669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4A4A"/>
                </a:solidFill>
              </a:defRPr>
            </a:pPr>
            <a:r>
              <a:t>   yinfa-backend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4480560"/>
            <a:ext cx="11551615" cy="19202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572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5E20"/>
                </a:solidFill>
              </a:defRPr>
            </a:pPr>
            <a:r>
              <a:t>⚙️ 环境变量配置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4937760"/>
            <a:ext cx="2237171" cy="320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4956048"/>
            <a:ext cx="223717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5257800"/>
            <a:ext cx="223717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1A"/>
                </a:solidFill>
              </a:defRPr>
            </a:pPr>
            <a:r>
              <a:t>服务器端口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5532120"/>
            <a:ext cx="223717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E7D32"/>
                </a:solidFill>
              </a:defRPr>
            </a:pPr>
            <a:r>
              <a:t>8000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630363" y="4937760"/>
            <a:ext cx="2237171" cy="320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30363" y="4956048"/>
            <a:ext cx="223717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NODE_ENV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30363" y="5257800"/>
            <a:ext cx="223717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1A"/>
                </a:solidFill>
              </a:defRPr>
            </a:pPr>
            <a:r>
              <a:t>环境模式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30363" y="5532120"/>
            <a:ext cx="223717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E7D32"/>
                </a:solidFill>
              </a:defRPr>
            </a:pPr>
            <a:r>
              <a:t>production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40686" y="4937760"/>
            <a:ext cx="2237171" cy="320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40686" y="4956048"/>
            <a:ext cx="223717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MINIMAX_API_KEY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40686" y="5257800"/>
            <a:ext cx="223717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1A"/>
                </a:solidFill>
              </a:defRPr>
            </a:pPr>
            <a:r>
              <a:t>MiniMax AI密钥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40686" y="5532120"/>
            <a:ext cx="223717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E7D32"/>
                </a:solidFill>
              </a:defRPr>
            </a:pPr>
            <a:r>
              <a:t>（联系管理员）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251009" y="4937760"/>
            <a:ext cx="2237171" cy="320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251009" y="4956048"/>
            <a:ext cx="223717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AMAP_KEY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51009" y="5257800"/>
            <a:ext cx="223717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1A"/>
                </a:solidFill>
              </a:defRPr>
            </a:pPr>
            <a:r>
              <a:t>高德天气API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51009" y="5532120"/>
            <a:ext cx="223717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E7D32"/>
                </a:solidFill>
              </a:defRPr>
            </a:pPr>
            <a:r>
              <a:t>（可选，未配返回模拟数据）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561332" y="4937760"/>
            <a:ext cx="2237171" cy="320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61332" y="4956048"/>
            <a:ext cx="223717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DATABASE_URL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61332" y="5257800"/>
            <a:ext cx="223717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1A"/>
                </a:solidFill>
              </a:defRPr>
            </a:pPr>
            <a:r>
              <a:t>PostgreSQL连接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61332" y="5532120"/>
            <a:ext cx="223717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E7D32"/>
                </a:solidFill>
              </a:defRPr>
            </a:pPr>
            <a:r>
              <a:t>（迁移后配置）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0"/>
            <a:ext cx="1155161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858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08 未来规划与待办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601968"/>
            <a:ext cx="1155161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4A4A4A"/>
                </a:solidFill>
              </a:defRPr>
            </a:pPr>
            <a:r>
              <a:t>桂林银发旅游小程序 | 深度优化版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88720"/>
            <a:ext cx="3749039" cy="3017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B71C1C"/>
                </a:solidFill>
              </a:defRPr>
            </a:pPr>
            <a:r>
              <a:t>🔴 P0 阻断性问题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</a:defRPr>
            </a:pPr>
            <a:r>
              <a:t>① 配置 DATABASE_URL（PostgreSQL迁移）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6596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</a:defRPr>
            </a:pPr>
            <a:r>
              <a:t>→ Railway 控制台添加环境变量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5000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</a:defRPr>
            </a:pPr>
            <a:r>
              <a:t>② 注册微信小商店（激活支付）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2432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</a:defRPr>
            </a:pPr>
            <a:r>
              <a:t>→ 个人开发者首选微信小商店方案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08376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</a:defRPr>
            </a:pPr>
            <a:r>
              <a:t>③ 部署 lvyou-agi 到 Railway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82696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</a:defRPr>
            </a:pPr>
            <a:r>
              <a:t>→ 解决Render免费版30分钟休眠问题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66744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</a:defRPr>
            </a:pPr>
            <a:r>
              <a:t>④ 补充 lvyou-agi 知识库文档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941064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</a:defRPr>
            </a:pPr>
            <a:r>
              <a:t>→ 当前仅有杨堤码头1个文档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1188720"/>
            <a:ext cx="4023360" cy="3017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128016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7C00"/>
                </a:solidFill>
              </a:defRPr>
            </a:pPr>
            <a:r>
              <a:t>🟡 P1 功能增强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169164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</a:defRPr>
            </a:pPr>
            <a:r>
              <a:t>⑤ Vue前端接入AI助手（50%）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196596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</a:defRPr>
            </a:pPr>
            <a:r>
              <a:t>→ 当前缺详情/地图/支付页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2350008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</a:defRPr>
            </a:pPr>
            <a:r>
              <a:t>⑥ 流式AI响应（SSE）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2624328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</a:defRPr>
            </a:pPr>
            <a:r>
              <a:t>→ 改用 /api/chat/stream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3008376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</a:defRPr>
            </a:pPr>
            <a:r>
              <a:t>⑦ 完成微信支付集成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3282696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</a:defRPr>
            </a:pPr>
            <a:r>
              <a:t>→ 支付回调处理完善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3666744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</a:defRPr>
            </a:pPr>
            <a:r>
              <a:t>⑧ Railway PostgreSQL验证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3941064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</a:defRPr>
            </a:pPr>
            <a:r>
              <a:t>→ 数据库连接测试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4297680"/>
            <a:ext cx="11551615" cy="2286000"/>
          </a:xfrm>
          <a:prstGeom prst="rect">
            <a:avLst/>
          </a:prstGeom>
          <a:solidFill>
            <a:srgbClr val="E8F5E9"/>
          </a:solidFill>
          <a:ln w="635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389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D32"/>
                </a:solidFill>
              </a:defRPr>
            </a:pPr>
            <a:r>
              <a:t>🟢 P2 长期建设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4754879"/>
            <a:ext cx="2785033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4828031"/>
            <a:ext cx="260215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5E20"/>
                </a:solidFill>
              </a:defRPr>
            </a:pPr>
            <a:r>
              <a:t>⑨ 知识库扩展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5120639"/>
            <a:ext cx="260215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</a:defRPr>
            </a:pPr>
            <a:r>
              <a:t>爬取马蜂窝/携程/桂林旅游官网扩充RAG知识库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42233" y="4754879"/>
            <a:ext cx="2785033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33673" y="4828031"/>
            <a:ext cx="260215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5E20"/>
                </a:solidFill>
              </a:defRPr>
            </a:pPr>
            <a:r>
              <a:t>⑩ 双server.py合并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33673" y="5120639"/>
            <a:ext cx="260215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</a:defRPr>
            </a:pPr>
            <a:r>
              <a:t>统一 src/server.py 与根 server.py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64427" y="4754879"/>
            <a:ext cx="2785033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55867" y="4828031"/>
            <a:ext cx="260215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5E20"/>
                </a:solidFill>
              </a:defRPr>
            </a:pPr>
            <a:r>
              <a:t>⑪ 高德地图API对接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55867" y="5120639"/>
            <a:ext cx="260215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</a:defRPr>
            </a:pPr>
            <a:r>
              <a:t>桂林旅游官网数据整合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086621" y="4754879"/>
            <a:ext cx="2785033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78061" y="4828031"/>
            <a:ext cx="260215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5E20"/>
                </a:solidFill>
              </a:defRPr>
            </a:pPr>
            <a:r>
              <a:t>⑫ lvyou-agi多意图并行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78061" y="5120639"/>
            <a:ext cx="260215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</a:defRPr>
            </a:pPr>
            <a:r>
              <a:t>从单意图优先升级为真正多意图并行检测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桂林银发旅游小程序 · 总结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73152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桂林银发旅游小程序 · 项目总结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463040"/>
            <a:ext cx="3621938" cy="1417320"/>
          </a:xfrm>
          <a:prstGeom prst="rect">
            <a:avLst/>
          </a:prstGeom>
          <a:solidFill>
            <a:srgbClr val="C8E6C9"/>
          </a:solidFill>
          <a:ln w="635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334761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5E20"/>
                </a:solidFill>
              </a:defRPr>
            </a:pPr>
            <a:r>
              <a:t>🎯 定位清晰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334761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</a:defRPr>
            </a:pPr>
            <a:r>
              <a:t>专为50岁以上银发游客设计，大字界面，简单操作，安全优先</a:t>
            </a:r>
          </a:p>
        </p:txBody>
      </p:sp>
      <p:sp>
        <p:nvSpPr>
          <p:cNvPr id="8" name="Rectangle 7"/>
          <p:cNvSpPr/>
          <p:nvPr/>
        </p:nvSpPr>
        <p:spPr>
          <a:xfrm>
            <a:off x="4079138" y="1463040"/>
            <a:ext cx="3621938" cy="1417320"/>
          </a:xfrm>
          <a:prstGeom prst="rect">
            <a:avLst/>
          </a:prstGeom>
          <a:solidFill>
            <a:srgbClr val="C8E6C9"/>
          </a:solidFill>
          <a:ln w="635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16298" y="1554480"/>
            <a:ext cx="334761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5E20"/>
                </a:solidFill>
              </a:defRPr>
            </a:pPr>
            <a:r>
              <a:t>🛠️ 技术完整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16298" y="1965960"/>
            <a:ext cx="334761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</a:defRPr>
            </a:pPr>
            <a:r>
              <a:t>微信小程序+Vue3+Express+SQL.js+AI，18个API全贯通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38236" y="1463040"/>
            <a:ext cx="3621938" cy="1417320"/>
          </a:xfrm>
          <a:prstGeom prst="rect">
            <a:avLst/>
          </a:prstGeom>
          <a:solidFill>
            <a:srgbClr val="C8E6C9"/>
          </a:solidFill>
          <a:ln w="635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75396" y="1554480"/>
            <a:ext cx="334761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5E20"/>
                </a:solidFill>
              </a:defRPr>
            </a:pPr>
            <a:r>
              <a:t>🤖 AI赋能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75396" y="1965960"/>
            <a:ext cx="334761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</a:defRPr>
            </a:pPr>
            <a:r>
              <a:t>集成漓江旅游导览Agent，RAG+LLM智能规划路线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063240"/>
            <a:ext cx="3621938" cy="1417320"/>
          </a:xfrm>
          <a:prstGeom prst="rect">
            <a:avLst/>
          </a:prstGeom>
          <a:solidFill>
            <a:srgbClr val="E8F5E9"/>
          </a:solidFill>
          <a:ln w="635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154680"/>
            <a:ext cx="334761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5E20"/>
                </a:solidFill>
              </a:defRPr>
            </a:pPr>
            <a:r>
              <a:t>📱 体验优化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566160"/>
            <a:ext cx="334761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</a:defRPr>
            </a:pPr>
            <a:r>
              <a:t>银发友好字体/配色/交互设计，语音+文字双交互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79138" y="3063240"/>
            <a:ext cx="3621938" cy="1417320"/>
          </a:xfrm>
          <a:prstGeom prst="rect">
            <a:avLst/>
          </a:prstGeom>
          <a:solidFill>
            <a:srgbClr val="E8F5E9"/>
          </a:solidFill>
          <a:ln w="635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16298" y="3154680"/>
            <a:ext cx="334761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5E20"/>
                </a:solidFill>
              </a:defRPr>
            </a:pPr>
            <a:r>
              <a:t>🚀 部署就绪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16298" y="3566160"/>
            <a:ext cx="334761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</a:defRPr>
            </a:pPr>
            <a:r>
              <a:t>Railway一键部署，Docker容器化，持久化存储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38236" y="3063240"/>
            <a:ext cx="3621938" cy="1417320"/>
          </a:xfrm>
          <a:prstGeom prst="rect">
            <a:avLst/>
          </a:prstGeom>
          <a:solidFill>
            <a:srgbClr val="E8F5E9"/>
          </a:solidFill>
          <a:ln w="635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75396" y="3154680"/>
            <a:ext cx="334761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5E20"/>
                </a:solidFill>
              </a:defRPr>
            </a:pPr>
            <a:r>
              <a:t>🔮 扩展性强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75396" y="3566160"/>
            <a:ext cx="334761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</a:defRPr>
            </a:pPr>
            <a:r>
              <a:t>预留支付/知识库/多Agent扩展，架构清晰可演进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4663440"/>
            <a:ext cx="115516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E7D32"/>
                </a:solidFill>
              </a:defRPr>
            </a:pPr>
            <a:r>
              <a:t>yinfa × lvyou-agi · 微信小程序 × AI导览 × 桂林漓江旅游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5074920"/>
            <a:ext cx="115516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A4A4A"/>
                </a:solidFill>
              </a:defRPr>
            </a:pPr>
            <a:r>
              <a:t>后端：https://yinfa-backend.up.railway.app  |  AI：https://lvyou-agi.onrender.com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5440680"/>
            <a:ext cx="115516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A4A4A"/>
                </a:solidFill>
              </a:defRPr>
            </a:pPr>
            <a:r>
              <a:t>联系维护：微信小程序搜索「银发旅游」或访问 GitHub cangku/yinfa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6601968"/>
            <a:ext cx="1155161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4A4A4A"/>
                </a:solidFill>
              </a:defRPr>
            </a:pPr>
            <a:r>
              <a:t>桂林银发旅游小程序 | Yinfa × lvyou-agi × AI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